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1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mindfulchat.com" TargetMode="External"/><Relationship Id="rId5" Type="http://schemas.openxmlformats.org/officeDocument/2006/relationships/image" Target="../media/image21.png"/><Relationship Id="rId4" Type="http://schemas.openxmlformats.org/officeDocument/2006/relationships/hyperlink" Target="mailto:info@mindfulcha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179582" y="702231"/>
            <a:ext cx="7757636" cy="123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50"/>
              <a:buFont typeface="Inter"/>
              <a:buNone/>
            </a:pPr>
            <a:r>
              <a:rPr lang="en-US" sz="38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Silent Crisis: A Global Mental Health Challenge</a:t>
            </a:r>
            <a:endParaRPr sz="3850" b="0" i="0" u="none" strike="noStrike" cap="none" dirty="0"/>
          </a:p>
        </p:txBody>
      </p:sp>
      <p:sp>
        <p:nvSpPr>
          <p:cNvPr id="58" name="Google Shape;58;p13"/>
          <p:cNvSpPr/>
          <p:nvPr/>
        </p:nvSpPr>
        <p:spPr>
          <a:xfrm>
            <a:off x="6179582" y="2237065"/>
            <a:ext cx="7757636" cy="95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world faces an escalating mental health crisis, impacting millions and straining healthcare systems. We see a pervasive need for accessible, timely, and stigma-free support.</a:t>
            </a:r>
            <a:endParaRPr sz="1550" b="0" i="0" u="none" strike="noStrike" cap="none" dirty="0"/>
          </a:p>
        </p:txBody>
      </p:sp>
      <p:sp>
        <p:nvSpPr>
          <p:cNvPr id="59" name="Google Shape;59;p13"/>
          <p:cNvSpPr/>
          <p:nvPr/>
        </p:nvSpPr>
        <p:spPr>
          <a:xfrm>
            <a:off x="6179582" y="3410664"/>
            <a:ext cx="7757636" cy="1959293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228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6156722" y="3410664"/>
            <a:ext cx="91440" cy="1959293"/>
          </a:xfrm>
          <a:prstGeom prst="roundRect">
            <a:avLst>
              <a:gd name="adj" fmla="val 90977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6469023" y="3631525"/>
            <a:ext cx="2532102" cy="309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lang="en-US" sz="19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Staggering Statistics</a:t>
            </a:r>
            <a:endParaRPr sz="1900" b="0" i="0" u="none" strike="noStrike" cap="none"/>
          </a:p>
        </p:txBody>
      </p:sp>
      <p:sp>
        <p:nvSpPr>
          <p:cNvPr id="62" name="Google Shape;62;p13"/>
          <p:cNvSpPr/>
          <p:nvPr/>
        </p:nvSpPr>
        <p:spPr>
          <a:xfrm>
            <a:off x="6469023" y="4059674"/>
            <a:ext cx="7247334" cy="31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Over </a:t>
            </a: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280 million</a:t>
            </a: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people worldwide suffer from depression.</a:t>
            </a:r>
            <a:endParaRPr sz="1550" b="0" i="0" u="none" strike="noStrike" cap="none"/>
          </a:p>
        </p:txBody>
      </p:sp>
      <p:sp>
        <p:nvSpPr>
          <p:cNvPr id="63" name="Google Shape;63;p13"/>
          <p:cNvSpPr/>
          <p:nvPr/>
        </p:nvSpPr>
        <p:spPr>
          <a:xfrm>
            <a:off x="6469023" y="4445913"/>
            <a:ext cx="7247334" cy="31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 in 5</a:t>
            </a: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adults experience mental health issues annually.</a:t>
            </a:r>
            <a:endParaRPr sz="1550" b="0" i="0" u="none" strike="noStrike" cap="none"/>
          </a:p>
        </p:txBody>
      </p:sp>
      <p:sp>
        <p:nvSpPr>
          <p:cNvPr id="64" name="Google Shape;64;p13"/>
          <p:cNvSpPr/>
          <p:nvPr/>
        </p:nvSpPr>
        <p:spPr>
          <a:xfrm>
            <a:off x="6469023" y="4832152"/>
            <a:ext cx="7247334" cy="31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60%</a:t>
            </a: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lack access to essential mental health services.</a:t>
            </a:r>
            <a:endParaRPr sz="1550" b="0" i="0" u="none" strike="noStrike" cap="none"/>
          </a:p>
        </p:txBody>
      </p:sp>
      <p:sp>
        <p:nvSpPr>
          <p:cNvPr id="65" name="Google Shape;65;p13"/>
          <p:cNvSpPr/>
          <p:nvPr/>
        </p:nvSpPr>
        <p:spPr>
          <a:xfrm>
            <a:off x="6179582" y="5567958"/>
            <a:ext cx="7757636" cy="1959293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228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6156722" y="5567958"/>
            <a:ext cx="91440" cy="1959293"/>
          </a:xfrm>
          <a:prstGeom prst="roundRect">
            <a:avLst>
              <a:gd name="adj" fmla="val 90977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6469023" y="5788819"/>
            <a:ext cx="2475786" cy="309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Inter"/>
              <a:buNone/>
            </a:pPr>
            <a:r>
              <a:rPr lang="en-US" sz="19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Critical Barriers</a:t>
            </a:r>
            <a:endParaRPr sz="1900" b="0" i="0" u="none" strike="noStrike" cap="none"/>
          </a:p>
        </p:txBody>
      </p:sp>
      <p:sp>
        <p:nvSpPr>
          <p:cNvPr id="68" name="Google Shape;68;p13"/>
          <p:cNvSpPr/>
          <p:nvPr/>
        </p:nvSpPr>
        <p:spPr>
          <a:xfrm>
            <a:off x="6469023" y="6216968"/>
            <a:ext cx="7247334" cy="31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Average waiting time for therapy: </a:t>
            </a: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4-12 weeks</a:t>
            </a: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50" b="0" i="0" u="none" strike="noStrike" cap="none"/>
          </a:p>
        </p:txBody>
      </p:sp>
      <p:sp>
        <p:nvSpPr>
          <p:cNvPr id="69" name="Google Shape;69;p13"/>
          <p:cNvSpPr/>
          <p:nvPr/>
        </p:nvSpPr>
        <p:spPr>
          <a:xfrm>
            <a:off x="6469023" y="6603206"/>
            <a:ext cx="7247334" cy="31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Mental health stigma prevents </a:t>
            </a: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50%</a:t>
            </a: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from seeking help.</a:t>
            </a:r>
            <a:endParaRPr sz="1550" b="0" i="0" u="none" strike="noStrike" cap="none"/>
          </a:p>
        </p:txBody>
      </p:sp>
      <p:sp>
        <p:nvSpPr>
          <p:cNvPr id="70" name="Google Shape;70;p13"/>
          <p:cNvSpPr/>
          <p:nvPr/>
        </p:nvSpPr>
        <p:spPr>
          <a:xfrm>
            <a:off x="6469023" y="6989445"/>
            <a:ext cx="7247334" cy="31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Limited access to qualified therapists and high costs are major deterrents.</a:t>
            </a:r>
            <a:endParaRPr sz="1550" b="0" i="0" u="none" strike="noStrike" cap="none"/>
          </a:p>
        </p:txBody>
      </p:sp>
      <p:pic>
        <p:nvPicPr>
          <p:cNvPr id="71" name="Google Shape;7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64650" y="7601775"/>
            <a:ext cx="2475775" cy="5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>
            <a:off x="5966222" y="596979"/>
            <a:ext cx="8184356" cy="85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"/>
              <a:buNone/>
            </a:pPr>
            <a:r>
              <a:rPr lang="en-US" sz="26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Empath.ai: Your AI-Powered Mental Wellness Companion</a:t>
            </a:r>
            <a:endParaRPr sz="2650" b="0" i="0" u="none" strike="noStrike" cap="none" dirty="0"/>
          </a:p>
        </p:txBody>
      </p:sp>
      <p:sp>
        <p:nvSpPr>
          <p:cNvPr id="79" name="Google Shape;79;p14"/>
          <p:cNvSpPr/>
          <p:nvPr/>
        </p:nvSpPr>
        <p:spPr>
          <a:xfrm>
            <a:off x="5966222" y="1659374"/>
            <a:ext cx="8184356" cy="43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en-US" sz="10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 introduce Empath.ai, an innovative web-based chatbot designed to </a:t>
            </a:r>
            <a:r>
              <a:rPr lang="en-US" sz="1050" b="0" i="0" u="none" strike="noStrike" cap="none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revolutionise</a:t>
            </a:r>
            <a:r>
              <a:rPr lang="en-US" sz="10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mental health support. Our solution provides immediate, empathetic, and </a:t>
            </a:r>
            <a:r>
              <a:rPr lang="en-US" sz="1050" b="0" i="0" u="none" strike="noStrike" cap="none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personalised</a:t>
            </a:r>
            <a:r>
              <a:rPr lang="en-US" sz="10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assistance, bridging the critical gaps in current care.</a:t>
            </a:r>
            <a:endParaRPr sz="1050" b="0" i="0" u="none" strike="noStrike" cap="none" dirty="0"/>
          </a:p>
        </p:txBody>
      </p:sp>
      <p:pic>
        <p:nvPicPr>
          <p:cNvPr id="80" name="Google Shape;80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66222" y="2252424"/>
            <a:ext cx="342662" cy="34266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/>
          <p:nvPr/>
        </p:nvSpPr>
        <p:spPr>
          <a:xfrm>
            <a:off x="5966222" y="2766417"/>
            <a:ext cx="2397085" cy="214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Emotional Support</a:t>
            </a:r>
            <a:endParaRPr sz="1300" b="0" i="0" u="none" strike="noStrike" cap="none"/>
          </a:p>
        </p:txBody>
      </p:sp>
      <p:sp>
        <p:nvSpPr>
          <p:cNvPr id="82" name="Google Shape;82;p14"/>
          <p:cNvSpPr/>
          <p:nvPr/>
        </p:nvSpPr>
        <p:spPr>
          <a:xfrm>
            <a:off x="5966222" y="3062645"/>
            <a:ext cx="8184356" cy="21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Engage in conversations that feel genuinely supportive, akin to speaking with a counsellor, any time you need it.</a:t>
            </a:r>
            <a:endParaRPr sz="1050" b="0" i="0" u="none" strike="noStrike" cap="none"/>
          </a:p>
        </p:txBody>
      </p:sp>
      <p:pic>
        <p:nvPicPr>
          <p:cNvPr id="83" name="Google Shape;83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66222" y="3556278"/>
            <a:ext cx="342662" cy="34266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/>
          <p:nvPr/>
        </p:nvSpPr>
        <p:spPr>
          <a:xfrm>
            <a:off x="5966222" y="4070271"/>
            <a:ext cx="1713667" cy="214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Daily Mood Tracking</a:t>
            </a:r>
            <a:endParaRPr sz="1300" b="0" i="0" u="none" strike="noStrike" cap="none"/>
          </a:p>
        </p:txBody>
      </p:sp>
      <p:sp>
        <p:nvSpPr>
          <p:cNvPr id="85" name="Google Shape;85;p14"/>
          <p:cNvSpPr/>
          <p:nvPr/>
        </p:nvSpPr>
        <p:spPr>
          <a:xfrm>
            <a:off x="5966222" y="4366498"/>
            <a:ext cx="8184356" cy="43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Monitor your emotional landscape with intuitive tracking tools, revealing trends and offering actionable insights into your well-being.</a:t>
            </a:r>
            <a:endParaRPr sz="1050" b="0" i="0" u="none" strike="noStrike" cap="none"/>
          </a:p>
        </p:txBody>
      </p:sp>
      <p:pic>
        <p:nvPicPr>
          <p:cNvPr id="86" name="Google Shape;86;p1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66222" y="5079563"/>
            <a:ext cx="342662" cy="34266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/>
          <p:nvPr/>
        </p:nvSpPr>
        <p:spPr>
          <a:xfrm>
            <a:off x="5966222" y="5593556"/>
            <a:ext cx="2627471" cy="214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Personalised Coping Strategies</a:t>
            </a:r>
            <a:endParaRPr sz="1300" b="0" i="0" u="none" strike="noStrike" cap="none"/>
          </a:p>
        </p:txBody>
      </p:sp>
      <p:sp>
        <p:nvSpPr>
          <p:cNvPr id="88" name="Google Shape;88;p14"/>
          <p:cNvSpPr/>
          <p:nvPr/>
        </p:nvSpPr>
        <p:spPr>
          <a:xfrm>
            <a:off x="5966222" y="5889784"/>
            <a:ext cx="8184356" cy="43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Receive tailored recommendations for breathing exercises, meditation, and other techniques proven to aid emotional regulation.</a:t>
            </a:r>
            <a:endParaRPr sz="1050" b="0" i="0" u="none" strike="noStrike" cap="none"/>
          </a:p>
        </p:txBody>
      </p:sp>
      <p:pic>
        <p:nvPicPr>
          <p:cNvPr id="89" name="Google Shape;89;p1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66222" y="6602849"/>
            <a:ext cx="342662" cy="34266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/>
          <p:nvPr/>
        </p:nvSpPr>
        <p:spPr>
          <a:xfrm>
            <a:off x="5966222" y="7116842"/>
            <a:ext cx="2079665" cy="214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One-Click Crisis Support</a:t>
            </a:r>
            <a:endParaRPr sz="1300" b="0" i="0" u="none" strike="noStrike" cap="none"/>
          </a:p>
        </p:txBody>
      </p:sp>
      <p:sp>
        <p:nvSpPr>
          <p:cNvPr id="91" name="Google Shape;91;p14"/>
          <p:cNvSpPr/>
          <p:nvPr/>
        </p:nvSpPr>
        <p:spPr>
          <a:xfrm>
            <a:off x="5966222" y="7413069"/>
            <a:ext cx="8184356" cy="21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Access vital crisis resources instantly, ensuring help is always within reach when it's needed most.</a:t>
            </a:r>
            <a:endParaRPr sz="1050" b="0" i="0" u="none" strike="noStrike" cap="none"/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064650" y="7601775"/>
            <a:ext cx="2475775" cy="5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425887" y="814149"/>
            <a:ext cx="8798123" cy="380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Inter"/>
              <a:buNone/>
            </a:pPr>
            <a:r>
              <a:rPr lang="en-US" sz="23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Our Innovation: Unrivalled Nuance in Emotional Intelligence</a:t>
            </a:r>
            <a:endParaRPr sz="2350" b="0" i="0" u="none" strike="noStrike" cap="none"/>
          </a:p>
        </p:txBody>
      </p:sp>
      <p:sp>
        <p:nvSpPr>
          <p:cNvPr id="99" name="Google Shape;99;p15"/>
          <p:cNvSpPr/>
          <p:nvPr/>
        </p:nvSpPr>
        <p:spPr>
          <a:xfrm>
            <a:off x="425887" y="1437918"/>
            <a:ext cx="13778627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Empath.ai sets a new standard in AI-driven mental health support through its unparalleled ability to understand human emotion and deliver highly </a:t>
            </a:r>
            <a:r>
              <a:rPr lang="en-US" sz="950" b="0" i="0" u="none" strike="noStrike" cap="none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personalised</a:t>
            </a:r>
            <a:r>
              <a:rPr lang="en-US" sz="9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care. Our proprietary approach offers a significant competitive advantage.</a:t>
            </a:r>
            <a:endParaRPr sz="950" b="0" i="0" u="none" strike="noStrike" cap="none" dirty="0"/>
          </a:p>
        </p:txBody>
      </p:sp>
      <p:sp>
        <p:nvSpPr>
          <p:cNvPr id="100" name="Google Shape;100;p15"/>
          <p:cNvSpPr/>
          <p:nvPr/>
        </p:nvSpPr>
        <p:spPr>
          <a:xfrm>
            <a:off x="425887" y="1906191"/>
            <a:ext cx="8148399" cy="1251823"/>
          </a:xfrm>
          <a:prstGeom prst="roundRect">
            <a:avLst>
              <a:gd name="adj" fmla="val 4083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555188" y="2035493"/>
            <a:ext cx="365046" cy="365046"/>
          </a:xfrm>
          <a:prstGeom prst="roundRect">
            <a:avLst>
              <a:gd name="adj" fmla="val 25046393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" name="Google Shape;102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558" y="2135862"/>
            <a:ext cx="164187" cy="16418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/>
          <p:nvPr/>
        </p:nvSpPr>
        <p:spPr>
          <a:xfrm>
            <a:off x="555188" y="2522220"/>
            <a:ext cx="1630442" cy="190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lang="en-US" sz="11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28-Emotion Detection</a:t>
            </a:r>
            <a:endParaRPr sz="1150" b="0" i="0" u="none" strike="noStrike" cap="none"/>
          </a:p>
        </p:txBody>
      </p:sp>
      <p:sp>
        <p:nvSpPr>
          <p:cNvPr id="104" name="Google Shape;104;p15"/>
          <p:cNvSpPr/>
          <p:nvPr/>
        </p:nvSpPr>
        <p:spPr>
          <a:xfrm>
            <a:off x="555188" y="2834045"/>
            <a:ext cx="7889796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 detect 28 distinct emotions, a </a:t>
            </a:r>
            <a:r>
              <a:rPr lang="en-US" sz="9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7x increase</a:t>
            </a: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 nuance compared to typical apps, which only recognise 4-6 basic emotions.</a:t>
            </a:r>
            <a:endParaRPr sz="950" b="0" i="0" u="none" strike="noStrike" cap="none"/>
          </a:p>
        </p:txBody>
      </p:sp>
      <p:sp>
        <p:nvSpPr>
          <p:cNvPr id="105" name="Google Shape;105;p15"/>
          <p:cNvSpPr/>
          <p:nvPr/>
        </p:nvSpPr>
        <p:spPr>
          <a:xfrm>
            <a:off x="425887" y="3279696"/>
            <a:ext cx="8148399" cy="1251823"/>
          </a:xfrm>
          <a:prstGeom prst="roundRect">
            <a:avLst>
              <a:gd name="adj" fmla="val 4083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55188" y="3408998"/>
            <a:ext cx="365046" cy="365046"/>
          </a:xfrm>
          <a:prstGeom prst="roundRect">
            <a:avLst>
              <a:gd name="adj" fmla="val 25046393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7" name="Google Shape;107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558" y="3509367"/>
            <a:ext cx="164187" cy="16418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555188" y="3895725"/>
            <a:ext cx="1521262" cy="190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lang="en-US" sz="11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 Therapist Data</a:t>
            </a:r>
            <a:endParaRPr sz="1150" b="0" i="0" u="none" strike="noStrike" cap="none"/>
          </a:p>
        </p:txBody>
      </p:sp>
      <p:sp>
        <p:nvSpPr>
          <p:cNvPr id="109" name="Google Shape;109;p15"/>
          <p:cNvSpPr/>
          <p:nvPr/>
        </p:nvSpPr>
        <p:spPr>
          <a:xfrm>
            <a:off x="555188" y="4207550"/>
            <a:ext cx="7889796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Trained on over </a:t>
            </a:r>
            <a:r>
              <a:rPr lang="en-US" sz="9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510,000</a:t>
            </a: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actual therapist-patient conversations, ensuring responses are genuinely therapeutic and informed.</a:t>
            </a:r>
            <a:endParaRPr sz="950" b="0" i="0" u="none" strike="noStrike" cap="none"/>
          </a:p>
        </p:txBody>
      </p:sp>
      <p:sp>
        <p:nvSpPr>
          <p:cNvPr id="110" name="Google Shape;110;p15"/>
          <p:cNvSpPr/>
          <p:nvPr/>
        </p:nvSpPr>
        <p:spPr>
          <a:xfrm>
            <a:off x="425887" y="4653201"/>
            <a:ext cx="8148399" cy="1251823"/>
          </a:xfrm>
          <a:prstGeom prst="roundRect">
            <a:avLst>
              <a:gd name="adj" fmla="val 4083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55188" y="4782503"/>
            <a:ext cx="365046" cy="365046"/>
          </a:xfrm>
          <a:prstGeom prst="roundRect">
            <a:avLst>
              <a:gd name="adj" fmla="val 25046393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558" y="4882872"/>
            <a:ext cx="164187" cy="16418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555188" y="5269230"/>
            <a:ext cx="2153483" cy="190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lang="en-US" sz="11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Depression Risk Assessment</a:t>
            </a:r>
            <a:endParaRPr sz="1150" b="0" i="0" u="none" strike="noStrike" cap="none"/>
          </a:p>
        </p:txBody>
      </p:sp>
      <p:sp>
        <p:nvSpPr>
          <p:cNvPr id="114" name="Google Shape;114;p15"/>
          <p:cNvSpPr/>
          <p:nvPr/>
        </p:nvSpPr>
        <p:spPr>
          <a:xfrm>
            <a:off x="555188" y="5581055"/>
            <a:ext cx="7889796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Our AI proactively identifies concerning patterns, offering an early warning system for potential depression, unlike generic solutions.</a:t>
            </a:r>
            <a:endParaRPr sz="950" b="0" i="0" u="none" strike="noStrike" cap="none"/>
          </a:p>
        </p:txBody>
      </p:sp>
      <p:sp>
        <p:nvSpPr>
          <p:cNvPr id="115" name="Google Shape;115;p15"/>
          <p:cNvSpPr/>
          <p:nvPr/>
        </p:nvSpPr>
        <p:spPr>
          <a:xfrm>
            <a:off x="425887" y="6026706"/>
            <a:ext cx="8148399" cy="1251823"/>
          </a:xfrm>
          <a:prstGeom prst="roundRect">
            <a:avLst>
              <a:gd name="adj" fmla="val 4083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55188" y="6156008"/>
            <a:ext cx="365046" cy="365046"/>
          </a:xfrm>
          <a:prstGeom prst="roundRect">
            <a:avLst>
              <a:gd name="adj" fmla="val 25046393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7" name="Google Shape;117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558" y="6256377"/>
            <a:ext cx="164187" cy="16418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/>
          <p:nvPr/>
        </p:nvSpPr>
        <p:spPr>
          <a:xfrm>
            <a:off x="555188" y="6642735"/>
            <a:ext cx="1551623" cy="190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lang="en-US" sz="11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Continuous Learning</a:t>
            </a:r>
            <a:endParaRPr sz="1150" b="0" i="0" u="none" strike="noStrike" cap="none"/>
          </a:p>
        </p:txBody>
      </p:sp>
      <p:sp>
        <p:nvSpPr>
          <p:cNvPr id="119" name="Google Shape;119;p15"/>
          <p:cNvSpPr/>
          <p:nvPr/>
        </p:nvSpPr>
        <p:spPr>
          <a:xfrm>
            <a:off x="555188" y="6954560"/>
            <a:ext cx="7889796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bot evolves with each interaction, learning from user preferences and dynamically improving its support over time.</a:t>
            </a:r>
            <a:endParaRPr sz="950" b="0" i="0" u="none" strike="noStrike" cap="none"/>
          </a:p>
        </p:txBody>
      </p:sp>
      <p:sp>
        <p:nvSpPr>
          <p:cNvPr id="120" name="Google Shape;120;p15"/>
          <p:cNvSpPr/>
          <p:nvPr/>
        </p:nvSpPr>
        <p:spPr>
          <a:xfrm>
            <a:off x="8878848" y="1891070"/>
            <a:ext cx="2182654" cy="190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lang="en-US" sz="11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Empath.ai vs. Typical Apps</a:t>
            </a:r>
            <a:endParaRPr sz="1150" b="0" i="0" u="none" strike="noStrike" cap="none" dirty="0"/>
          </a:p>
        </p:txBody>
      </p:sp>
      <p:sp>
        <p:nvSpPr>
          <p:cNvPr id="121" name="Google Shape;121;p15"/>
          <p:cNvSpPr/>
          <p:nvPr/>
        </p:nvSpPr>
        <p:spPr>
          <a:xfrm>
            <a:off x="8878848" y="2218015"/>
            <a:ext cx="5333286" cy="2345174"/>
          </a:xfrm>
          <a:prstGeom prst="roundRect">
            <a:avLst>
              <a:gd name="adj" fmla="val 2180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8886468" y="2225635"/>
            <a:ext cx="5317450" cy="355878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9008864" y="2306241"/>
            <a:ext cx="152507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950" b="0" i="0" u="none" strike="noStrike" cap="none"/>
          </a:p>
        </p:txBody>
      </p:sp>
      <p:sp>
        <p:nvSpPr>
          <p:cNvPr id="124" name="Google Shape;124;p15"/>
          <p:cNvSpPr/>
          <p:nvPr/>
        </p:nvSpPr>
        <p:spPr>
          <a:xfrm>
            <a:off x="10784919" y="2306241"/>
            <a:ext cx="152126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Empath.ai</a:t>
            </a:r>
            <a:endParaRPr sz="950" b="0" i="0" u="none" strike="noStrike" cap="none" dirty="0"/>
          </a:p>
        </p:txBody>
      </p:sp>
      <p:sp>
        <p:nvSpPr>
          <p:cNvPr id="125" name="Google Shape;125;p15"/>
          <p:cNvSpPr/>
          <p:nvPr/>
        </p:nvSpPr>
        <p:spPr>
          <a:xfrm>
            <a:off x="12557165" y="2306241"/>
            <a:ext cx="152507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Typical Apps</a:t>
            </a:r>
            <a:endParaRPr sz="950" b="0" i="0" u="none" strike="noStrike" cap="none"/>
          </a:p>
        </p:txBody>
      </p:sp>
      <p:sp>
        <p:nvSpPr>
          <p:cNvPr id="126" name="Google Shape;126;p15"/>
          <p:cNvSpPr/>
          <p:nvPr/>
        </p:nvSpPr>
        <p:spPr>
          <a:xfrm>
            <a:off x="8886468" y="2581513"/>
            <a:ext cx="5317450" cy="355878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9008864" y="2662118"/>
            <a:ext cx="152507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Emotion Detection</a:t>
            </a:r>
            <a:endParaRPr sz="950" b="0" i="0" u="none" strike="noStrike" cap="none"/>
          </a:p>
        </p:txBody>
      </p:sp>
      <p:sp>
        <p:nvSpPr>
          <p:cNvPr id="128" name="Google Shape;128;p15"/>
          <p:cNvSpPr/>
          <p:nvPr/>
        </p:nvSpPr>
        <p:spPr>
          <a:xfrm>
            <a:off x="10784919" y="2662118"/>
            <a:ext cx="152126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28 emotions</a:t>
            </a:r>
            <a:endParaRPr sz="950" b="0" i="0" u="none" strike="noStrike" cap="none"/>
          </a:p>
        </p:txBody>
      </p:sp>
      <p:sp>
        <p:nvSpPr>
          <p:cNvPr id="129" name="Google Shape;129;p15"/>
          <p:cNvSpPr/>
          <p:nvPr/>
        </p:nvSpPr>
        <p:spPr>
          <a:xfrm>
            <a:off x="12557165" y="2662118"/>
            <a:ext cx="152507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4-6 emotions</a:t>
            </a:r>
            <a:endParaRPr sz="950" b="0" i="0" u="none" strike="noStrike" cap="none"/>
          </a:p>
        </p:txBody>
      </p:sp>
      <p:sp>
        <p:nvSpPr>
          <p:cNvPr id="130" name="Google Shape;130;p15"/>
          <p:cNvSpPr/>
          <p:nvPr/>
        </p:nvSpPr>
        <p:spPr>
          <a:xfrm>
            <a:off x="8886468" y="2937391"/>
            <a:ext cx="5317450" cy="550545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9008864" y="3017996"/>
            <a:ext cx="152507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 Source</a:t>
            </a:r>
            <a:endParaRPr sz="950" b="0" i="0" u="none" strike="noStrike" cap="none"/>
          </a:p>
        </p:txBody>
      </p:sp>
      <p:sp>
        <p:nvSpPr>
          <p:cNvPr id="132" name="Google Shape;132;p15"/>
          <p:cNvSpPr/>
          <p:nvPr/>
        </p:nvSpPr>
        <p:spPr>
          <a:xfrm>
            <a:off x="10784919" y="3017996"/>
            <a:ext cx="1521262" cy="38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 therapist conversations</a:t>
            </a:r>
            <a:endParaRPr sz="950" b="0" i="0" u="none" strike="noStrike" cap="none"/>
          </a:p>
        </p:txBody>
      </p:sp>
      <p:sp>
        <p:nvSpPr>
          <p:cNvPr id="133" name="Google Shape;133;p15"/>
          <p:cNvSpPr/>
          <p:nvPr/>
        </p:nvSpPr>
        <p:spPr>
          <a:xfrm>
            <a:off x="12557165" y="3017996"/>
            <a:ext cx="152507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Generic AI</a:t>
            </a:r>
            <a:endParaRPr sz="950" b="0" i="0" u="none" strike="noStrike" cap="none"/>
          </a:p>
        </p:txBody>
      </p:sp>
      <p:sp>
        <p:nvSpPr>
          <p:cNvPr id="134" name="Google Shape;134;p15"/>
          <p:cNvSpPr/>
          <p:nvPr/>
        </p:nvSpPr>
        <p:spPr>
          <a:xfrm>
            <a:off x="8886468" y="3487936"/>
            <a:ext cx="5317450" cy="355878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9008864" y="3568541"/>
            <a:ext cx="152507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Personalisation</a:t>
            </a:r>
            <a:endParaRPr sz="950" b="0" i="0" u="none" strike="noStrike" cap="none"/>
          </a:p>
        </p:txBody>
      </p:sp>
      <p:sp>
        <p:nvSpPr>
          <p:cNvPr id="136" name="Google Shape;136;p15"/>
          <p:cNvSpPr/>
          <p:nvPr/>
        </p:nvSpPr>
        <p:spPr>
          <a:xfrm>
            <a:off x="10784919" y="3568541"/>
            <a:ext cx="152126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Feedback-driven learning</a:t>
            </a:r>
            <a:endParaRPr sz="950" b="0" i="0" u="none" strike="noStrike" cap="none"/>
          </a:p>
        </p:txBody>
      </p:sp>
      <p:sp>
        <p:nvSpPr>
          <p:cNvPr id="137" name="Google Shape;137;p15"/>
          <p:cNvSpPr/>
          <p:nvPr/>
        </p:nvSpPr>
        <p:spPr>
          <a:xfrm>
            <a:off x="12557165" y="3568541"/>
            <a:ext cx="152507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Static responses</a:t>
            </a:r>
            <a:endParaRPr sz="950" b="0" i="0" u="none" strike="noStrike" cap="none"/>
          </a:p>
        </p:txBody>
      </p:sp>
      <p:sp>
        <p:nvSpPr>
          <p:cNvPr id="138" name="Google Shape;138;p15"/>
          <p:cNvSpPr/>
          <p:nvPr/>
        </p:nvSpPr>
        <p:spPr>
          <a:xfrm>
            <a:off x="8886468" y="3843814"/>
            <a:ext cx="5317450" cy="355878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9008864" y="3924419"/>
            <a:ext cx="152507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Risk Assessment</a:t>
            </a:r>
            <a:endParaRPr sz="950" b="0" i="0" u="none" strike="noStrike" cap="none"/>
          </a:p>
        </p:txBody>
      </p:sp>
      <p:sp>
        <p:nvSpPr>
          <p:cNvPr id="140" name="Google Shape;140;p15"/>
          <p:cNvSpPr/>
          <p:nvPr/>
        </p:nvSpPr>
        <p:spPr>
          <a:xfrm>
            <a:off x="10784919" y="3924419"/>
            <a:ext cx="152126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Yes (depression patterns)</a:t>
            </a:r>
            <a:endParaRPr sz="950" b="0" i="0" u="none" strike="noStrike" cap="none"/>
          </a:p>
        </p:txBody>
      </p:sp>
      <p:sp>
        <p:nvSpPr>
          <p:cNvPr id="141" name="Google Shape;141;p15"/>
          <p:cNvSpPr/>
          <p:nvPr/>
        </p:nvSpPr>
        <p:spPr>
          <a:xfrm>
            <a:off x="12557165" y="3924419"/>
            <a:ext cx="152507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endParaRPr sz="950" b="0" i="0" u="none" strike="noStrike" cap="none"/>
          </a:p>
        </p:txBody>
      </p:sp>
      <p:sp>
        <p:nvSpPr>
          <p:cNvPr id="142" name="Google Shape;142;p15"/>
          <p:cNvSpPr/>
          <p:nvPr/>
        </p:nvSpPr>
        <p:spPr>
          <a:xfrm>
            <a:off x="8886468" y="4199692"/>
            <a:ext cx="5317450" cy="355878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9008864" y="4280297"/>
            <a:ext cx="152507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Access</a:t>
            </a:r>
            <a:endParaRPr sz="950" b="0" i="0" u="none" strike="noStrike" cap="none"/>
          </a:p>
        </p:txBody>
      </p:sp>
      <p:sp>
        <p:nvSpPr>
          <p:cNvPr id="144" name="Google Shape;144;p15"/>
          <p:cNvSpPr/>
          <p:nvPr/>
        </p:nvSpPr>
        <p:spPr>
          <a:xfrm>
            <a:off x="10784919" y="4280297"/>
            <a:ext cx="152126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Instant (web)</a:t>
            </a:r>
            <a:endParaRPr sz="950" b="0" i="0" u="none" strike="noStrike" cap="none"/>
          </a:p>
        </p:txBody>
      </p:sp>
      <p:sp>
        <p:nvSpPr>
          <p:cNvPr id="145" name="Google Shape;145;p15"/>
          <p:cNvSpPr/>
          <p:nvPr/>
        </p:nvSpPr>
        <p:spPr>
          <a:xfrm>
            <a:off x="12557165" y="4280297"/>
            <a:ext cx="152507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 download required</a:t>
            </a:r>
            <a:endParaRPr sz="950" b="0" i="0" u="none" strike="noStrike" cap="none"/>
          </a:p>
        </p:txBody>
      </p:sp>
      <p:pic>
        <p:nvPicPr>
          <p:cNvPr id="146" name="Google Shape;14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064650" y="7601775"/>
            <a:ext cx="2475775" cy="5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/>
          <p:nvPr/>
        </p:nvSpPr>
        <p:spPr>
          <a:xfrm>
            <a:off x="565428" y="444341"/>
            <a:ext cx="9885164" cy="50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Inter"/>
              <a:buNone/>
            </a:pPr>
            <a:r>
              <a:rPr lang="en-US" sz="31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Seamless Support: The Empath.ai User Journey</a:t>
            </a:r>
            <a:endParaRPr sz="3150" b="0" i="0" u="none" strike="noStrike" cap="none" dirty="0"/>
          </a:p>
        </p:txBody>
      </p:sp>
      <p:sp>
        <p:nvSpPr>
          <p:cNvPr id="153" name="Google Shape;153;p16"/>
          <p:cNvSpPr/>
          <p:nvPr/>
        </p:nvSpPr>
        <p:spPr>
          <a:xfrm>
            <a:off x="565428" y="1272421"/>
            <a:ext cx="13499544" cy="51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Experiencing Empath.ai is intuitive and supportive. Our system is designed to provide help precisely when and how it's needed, adapting to each individual's unique emotional landscape.</a:t>
            </a:r>
            <a:endParaRPr sz="1250" b="0" i="0" u="none" strike="noStrike" cap="none" dirty="0"/>
          </a:p>
        </p:txBody>
      </p:sp>
      <p:pic>
        <p:nvPicPr>
          <p:cNvPr id="154" name="Google Shape;154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428" y="1971080"/>
            <a:ext cx="807839" cy="96940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/>
          <p:nvPr/>
        </p:nvSpPr>
        <p:spPr>
          <a:xfrm>
            <a:off x="1534835" y="2132648"/>
            <a:ext cx="2019657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Express Yourself</a:t>
            </a:r>
            <a:endParaRPr sz="1550" b="0" i="0" u="none" strike="noStrike" cap="none"/>
          </a:p>
        </p:txBody>
      </p:sp>
      <p:sp>
        <p:nvSpPr>
          <p:cNvPr id="156" name="Google Shape;156;p16"/>
          <p:cNvSpPr/>
          <p:nvPr/>
        </p:nvSpPr>
        <p:spPr>
          <a:xfrm>
            <a:off x="1534835" y="2481977"/>
            <a:ext cx="12530138" cy="258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user types: "I'm feeling really anxious today, everything just feels overwhelming."</a:t>
            </a:r>
            <a:endParaRPr sz="1250" b="0" i="0" u="none" strike="noStrike" cap="none"/>
          </a:p>
        </p:txBody>
      </p:sp>
      <p:pic>
        <p:nvPicPr>
          <p:cNvPr id="157" name="Google Shape;157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428" y="2940487"/>
            <a:ext cx="807839" cy="96940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/>
          <p:nvPr/>
        </p:nvSpPr>
        <p:spPr>
          <a:xfrm>
            <a:off x="1534835" y="3102054"/>
            <a:ext cx="2019657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AI Understands</a:t>
            </a:r>
            <a:endParaRPr sz="1550" b="0" i="0" u="none" strike="noStrike" cap="none"/>
          </a:p>
        </p:txBody>
      </p:sp>
      <p:sp>
        <p:nvSpPr>
          <p:cNvPr id="159" name="Google Shape;159;p16"/>
          <p:cNvSpPr/>
          <p:nvPr/>
        </p:nvSpPr>
        <p:spPr>
          <a:xfrm>
            <a:off x="1534835" y="3451384"/>
            <a:ext cx="12530138" cy="258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 b="0" i="0" u="none" strike="noStrike" cap="none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Empath.ai's</a:t>
            </a:r>
            <a:r>
              <a:rPr lang="en-US" sz="12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AI detects nuanced emotions: anxiety, nervousness, and underlying fear.</a:t>
            </a:r>
            <a:endParaRPr sz="1250" b="0" i="0" u="none" strike="noStrike" cap="none" dirty="0"/>
          </a:p>
        </p:txBody>
      </p:sp>
      <p:pic>
        <p:nvPicPr>
          <p:cNvPr id="160" name="Google Shape;160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5428" y="3909893"/>
            <a:ext cx="807839" cy="96940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/>
          <p:nvPr/>
        </p:nvSpPr>
        <p:spPr>
          <a:xfrm>
            <a:off x="1534835" y="4071461"/>
            <a:ext cx="2143006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Empathetic Response</a:t>
            </a:r>
            <a:endParaRPr sz="1550" b="0" i="0" u="none" strike="noStrike" cap="none"/>
          </a:p>
        </p:txBody>
      </p:sp>
      <p:sp>
        <p:nvSpPr>
          <p:cNvPr id="162" name="Google Shape;162;p16"/>
          <p:cNvSpPr/>
          <p:nvPr/>
        </p:nvSpPr>
        <p:spPr>
          <a:xfrm>
            <a:off x="1534835" y="4420791"/>
            <a:ext cx="12530138" cy="258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bot responds empathetically: "I understand anxiety can feel incredibly overwhelming. It's brave of you to share this."</a:t>
            </a:r>
            <a:endParaRPr sz="1250" b="0" i="0" u="none" strike="noStrike" cap="none"/>
          </a:p>
        </p:txBody>
      </p:sp>
      <p:pic>
        <p:nvPicPr>
          <p:cNvPr id="163" name="Google Shape;163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5428" y="4879300"/>
            <a:ext cx="807839" cy="96940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/>
          <p:nvPr/>
        </p:nvSpPr>
        <p:spPr>
          <a:xfrm>
            <a:off x="1534835" y="5040868"/>
            <a:ext cx="245423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Personalised Suggestion</a:t>
            </a:r>
            <a:endParaRPr sz="1550" b="0" i="0" u="none" strike="noStrike" cap="none"/>
          </a:p>
        </p:txBody>
      </p:sp>
      <p:sp>
        <p:nvSpPr>
          <p:cNvPr id="165" name="Google Shape;165;p16"/>
          <p:cNvSpPr/>
          <p:nvPr/>
        </p:nvSpPr>
        <p:spPr>
          <a:xfrm>
            <a:off x="1534835" y="5390198"/>
            <a:ext cx="12530138" cy="258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 receives a tailored suggestion: "Would you like to try a calming 4-7-8 breathing exercise for about 5 minutes?"</a:t>
            </a:r>
            <a:endParaRPr sz="1250" b="0" i="0" u="none" strike="noStrike" cap="none"/>
          </a:p>
        </p:txBody>
      </p:sp>
      <p:pic>
        <p:nvPicPr>
          <p:cNvPr id="166" name="Google Shape;166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5428" y="5848707"/>
            <a:ext cx="807839" cy="96940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/>
          <p:nvPr/>
        </p:nvSpPr>
        <p:spPr>
          <a:xfrm>
            <a:off x="1534835" y="6010275"/>
            <a:ext cx="2019657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Track &amp; Learn</a:t>
            </a:r>
            <a:endParaRPr sz="1550" b="0" i="0" u="none" strike="noStrike" cap="none"/>
          </a:p>
        </p:txBody>
      </p:sp>
      <p:sp>
        <p:nvSpPr>
          <p:cNvPr id="168" name="Google Shape;168;p16"/>
          <p:cNvSpPr/>
          <p:nvPr/>
        </p:nvSpPr>
        <p:spPr>
          <a:xfrm>
            <a:off x="1534835" y="6359604"/>
            <a:ext cx="12530138" cy="258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 completes the exercise, rates their mood (e.g., 5/10 → 7/10), and the system logs the positive impact.</a:t>
            </a:r>
            <a:endParaRPr sz="1250" b="0" i="0" u="none" strike="noStrike" cap="none"/>
          </a:p>
        </p:txBody>
      </p:sp>
      <p:pic>
        <p:nvPicPr>
          <p:cNvPr id="169" name="Google Shape;169;p1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5428" y="6818114"/>
            <a:ext cx="807839" cy="96940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1534835" y="6979682"/>
            <a:ext cx="2019657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Smarter Support</a:t>
            </a:r>
            <a:endParaRPr sz="1550" b="0" i="0" u="none" strike="noStrike" cap="none"/>
          </a:p>
        </p:txBody>
      </p:sp>
      <p:sp>
        <p:nvSpPr>
          <p:cNvPr id="171" name="Google Shape;171;p16"/>
          <p:cNvSpPr/>
          <p:nvPr/>
        </p:nvSpPr>
        <p:spPr>
          <a:xfrm>
            <a:off x="1534835" y="7329011"/>
            <a:ext cx="12530138" cy="258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Next time the user reports anxiety, Empath.ai intelligently recommends the now-proven effective strategy, continuously </a:t>
            </a:r>
            <a:r>
              <a:rPr lang="en-US" sz="1250" b="0" i="0" u="none" strike="noStrike" cap="none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optimising</a:t>
            </a:r>
            <a:r>
              <a:rPr lang="en-US" sz="12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personal care.</a:t>
            </a:r>
            <a:endParaRPr sz="1250" b="0" i="0" u="none" strike="noStrike" cap="none" dirty="0"/>
          </a:p>
        </p:txBody>
      </p:sp>
      <p:pic>
        <p:nvPicPr>
          <p:cNvPr id="172" name="Google Shape;172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064650" y="7601775"/>
            <a:ext cx="2475775" cy="5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>
            <a:off x="642223" y="792004"/>
            <a:ext cx="13123783" cy="5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nter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Core Features: Empowering Your Mental Wellness Journey</a:t>
            </a:r>
            <a:endParaRPr sz="3600" b="0" i="0" u="none" strike="noStrike" cap="none"/>
          </a:p>
        </p:txBody>
      </p:sp>
      <p:sp>
        <p:nvSpPr>
          <p:cNvPr id="179" name="Google Shape;179;p17"/>
          <p:cNvSpPr/>
          <p:nvPr/>
        </p:nvSpPr>
        <p:spPr>
          <a:xfrm>
            <a:off x="642223" y="1732359"/>
            <a:ext cx="13345954" cy="586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Empath.ai integrates a suite of powerful features, each meticulously designed to provide comprehensive, intelligent, and accessible mental health support.</a:t>
            </a:r>
            <a:endParaRPr sz="1400" b="0" i="0" u="none" strike="noStrike" cap="none" dirty="0"/>
          </a:p>
        </p:txBody>
      </p:sp>
      <p:sp>
        <p:nvSpPr>
          <p:cNvPr id="180" name="Google Shape;180;p17"/>
          <p:cNvSpPr/>
          <p:nvPr/>
        </p:nvSpPr>
        <p:spPr>
          <a:xfrm>
            <a:off x="642223" y="2800826"/>
            <a:ext cx="4326255" cy="2235756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642223" y="2777966"/>
            <a:ext cx="4326255" cy="91440"/>
          </a:xfrm>
          <a:prstGeom prst="roundRect">
            <a:avLst>
              <a:gd name="adj" fmla="val 84286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2530138" y="2525673"/>
            <a:ext cx="550426" cy="550426"/>
          </a:xfrm>
          <a:prstGeom prst="roundRect">
            <a:avLst>
              <a:gd name="adj" fmla="val 166126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2695277" y="2663309"/>
            <a:ext cx="220147" cy="275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700" b="0" i="0" u="none" strike="noStrike" cap="none"/>
          </a:p>
        </p:txBody>
      </p:sp>
      <p:sp>
        <p:nvSpPr>
          <p:cNvPr id="184" name="Google Shape;184;p17"/>
          <p:cNvSpPr/>
          <p:nvPr/>
        </p:nvSpPr>
        <p:spPr>
          <a:xfrm>
            <a:off x="848558" y="3259574"/>
            <a:ext cx="2293739" cy="28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Intelligent Chat</a:t>
            </a:r>
            <a:endParaRPr sz="1800" b="0" i="0" u="none" strike="noStrike" cap="none"/>
          </a:p>
        </p:txBody>
      </p:sp>
      <p:sp>
        <p:nvSpPr>
          <p:cNvPr id="185" name="Google Shape;185;p17"/>
          <p:cNvSpPr/>
          <p:nvPr/>
        </p:nvSpPr>
        <p:spPr>
          <a:xfrm>
            <a:off x="848558" y="3656290"/>
            <a:ext cx="3913584" cy="88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Our AI precisely detects your emotional state from text, responding with empathy and offering relevant, effective support.</a:t>
            </a:r>
            <a:endParaRPr sz="1400" b="0" i="0" u="none" strike="noStrike" cap="none"/>
          </a:p>
        </p:txBody>
      </p:sp>
      <p:sp>
        <p:nvSpPr>
          <p:cNvPr id="186" name="Google Shape;186;p17"/>
          <p:cNvSpPr/>
          <p:nvPr/>
        </p:nvSpPr>
        <p:spPr>
          <a:xfrm>
            <a:off x="5151953" y="2800826"/>
            <a:ext cx="4326374" cy="2235756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5151953" y="2777966"/>
            <a:ext cx="4326374" cy="91440"/>
          </a:xfrm>
          <a:prstGeom prst="roundRect">
            <a:avLst>
              <a:gd name="adj" fmla="val 84286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7039868" y="2525673"/>
            <a:ext cx="550426" cy="550426"/>
          </a:xfrm>
          <a:prstGeom prst="roundRect">
            <a:avLst>
              <a:gd name="adj" fmla="val 166126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7205008" y="2663309"/>
            <a:ext cx="220147" cy="275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1700" b="0" i="0" u="none" strike="noStrike" cap="none"/>
          </a:p>
        </p:txBody>
      </p:sp>
      <p:sp>
        <p:nvSpPr>
          <p:cNvPr id="190" name="Google Shape;190;p17"/>
          <p:cNvSpPr/>
          <p:nvPr/>
        </p:nvSpPr>
        <p:spPr>
          <a:xfrm>
            <a:off x="5358289" y="3259574"/>
            <a:ext cx="2293739" cy="28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Mood Tracking</a:t>
            </a:r>
            <a:endParaRPr sz="1800" b="0" i="0" u="none" strike="noStrike" cap="none"/>
          </a:p>
        </p:txBody>
      </p:sp>
      <p:sp>
        <p:nvSpPr>
          <p:cNvPr id="191" name="Google Shape;191;p17"/>
          <p:cNvSpPr/>
          <p:nvPr/>
        </p:nvSpPr>
        <p:spPr>
          <a:xfrm>
            <a:off x="5358289" y="3656290"/>
            <a:ext cx="3913703" cy="88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Effortlessly log your daily mood and visualise trends over time (7, 30, 90 days) to identify patterns, such as "anxiety peaks at 9 PM".</a:t>
            </a:r>
            <a:endParaRPr sz="1400" b="0" i="0" u="none" strike="noStrike" cap="none"/>
          </a:p>
        </p:txBody>
      </p:sp>
      <p:sp>
        <p:nvSpPr>
          <p:cNvPr id="192" name="Google Shape;192;p17"/>
          <p:cNvSpPr/>
          <p:nvPr/>
        </p:nvSpPr>
        <p:spPr>
          <a:xfrm>
            <a:off x="9661803" y="2800826"/>
            <a:ext cx="4326255" cy="2235756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9661803" y="2777966"/>
            <a:ext cx="4326255" cy="91440"/>
          </a:xfrm>
          <a:prstGeom prst="roundRect">
            <a:avLst>
              <a:gd name="adj" fmla="val 84286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7"/>
          <p:cNvSpPr/>
          <p:nvPr/>
        </p:nvSpPr>
        <p:spPr>
          <a:xfrm>
            <a:off x="11549717" y="2525673"/>
            <a:ext cx="550426" cy="550426"/>
          </a:xfrm>
          <a:prstGeom prst="roundRect">
            <a:avLst>
              <a:gd name="adj" fmla="val 166126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11714857" y="2663309"/>
            <a:ext cx="220147" cy="275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1700" b="0" i="0" u="none" strike="noStrike" cap="none"/>
          </a:p>
        </p:txBody>
      </p:sp>
      <p:sp>
        <p:nvSpPr>
          <p:cNvPr id="196" name="Google Shape;196;p17"/>
          <p:cNvSpPr/>
          <p:nvPr/>
        </p:nvSpPr>
        <p:spPr>
          <a:xfrm>
            <a:off x="9868138" y="3259574"/>
            <a:ext cx="2657832" cy="28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Personalised Strategies</a:t>
            </a:r>
            <a:endParaRPr sz="1800" b="0" i="0" u="none" strike="noStrike" cap="none"/>
          </a:p>
        </p:txBody>
      </p:sp>
      <p:sp>
        <p:nvSpPr>
          <p:cNvPr id="197" name="Google Shape;197;p17"/>
          <p:cNvSpPr/>
          <p:nvPr/>
        </p:nvSpPr>
        <p:spPr>
          <a:xfrm>
            <a:off x="9868138" y="3656290"/>
            <a:ext cx="3913584" cy="1173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Access a library of coping techniques, custom-matched to your emotions and ranked by their proven effectiveness for you, across various difficulty levels.</a:t>
            </a:r>
            <a:endParaRPr sz="1400" b="0" i="0" u="none" strike="noStrike" cap="none"/>
          </a:p>
        </p:txBody>
      </p:sp>
      <p:sp>
        <p:nvSpPr>
          <p:cNvPr id="198" name="Google Shape;198;p17"/>
          <p:cNvSpPr/>
          <p:nvPr/>
        </p:nvSpPr>
        <p:spPr>
          <a:xfrm>
            <a:off x="642223" y="5495211"/>
            <a:ext cx="6581180" cy="1942267"/>
          </a:xfrm>
          <a:prstGeom prst="roundRect">
            <a:avLst>
              <a:gd name="adj" fmla="val 564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642223" y="5472351"/>
            <a:ext cx="6581180" cy="91440"/>
          </a:xfrm>
          <a:prstGeom prst="roundRect">
            <a:avLst>
              <a:gd name="adj" fmla="val 84286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3657540" y="5220057"/>
            <a:ext cx="550426" cy="550426"/>
          </a:xfrm>
          <a:prstGeom prst="roundRect">
            <a:avLst>
              <a:gd name="adj" fmla="val 166126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3822680" y="5357693"/>
            <a:ext cx="220147" cy="275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1700" b="0" i="0" u="none" strike="noStrike" cap="none"/>
          </a:p>
        </p:txBody>
      </p:sp>
      <p:sp>
        <p:nvSpPr>
          <p:cNvPr id="202" name="Google Shape;202;p17"/>
          <p:cNvSpPr/>
          <p:nvPr/>
        </p:nvSpPr>
        <p:spPr>
          <a:xfrm>
            <a:off x="848558" y="5953958"/>
            <a:ext cx="2293739" cy="28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Analytics &amp; Insights</a:t>
            </a:r>
            <a:endParaRPr sz="1800" b="0" i="0" u="none" strike="noStrike" cap="none"/>
          </a:p>
        </p:txBody>
      </p:sp>
      <p:sp>
        <p:nvSpPr>
          <p:cNvPr id="203" name="Google Shape;203;p17"/>
          <p:cNvSpPr/>
          <p:nvPr/>
        </p:nvSpPr>
        <p:spPr>
          <a:xfrm>
            <a:off x="848558" y="6350675"/>
            <a:ext cx="6168509" cy="88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Gain valuable insights like "Your meditation improved mood by 2.3 points," alongside early depression risk assessments and activity effectiveness tracking.</a:t>
            </a:r>
            <a:endParaRPr sz="1400" b="0" i="0" u="none" strike="noStrike" cap="none"/>
          </a:p>
        </p:txBody>
      </p:sp>
      <p:sp>
        <p:nvSpPr>
          <p:cNvPr id="204" name="Google Shape;204;p17"/>
          <p:cNvSpPr/>
          <p:nvPr/>
        </p:nvSpPr>
        <p:spPr>
          <a:xfrm>
            <a:off x="7406878" y="5495211"/>
            <a:ext cx="6581180" cy="1942267"/>
          </a:xfrm>
          <a:prstGeom prst="roundRect">
            <a:avLst>
              <a:gd name="adj" fmla="val 564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7406878" y="5472351"/>
            <a:ext cx="6581180" cy="91440"/>
          </a:xfrm>
          <a:prstGeom prst="roundRect">
            <a:avLst>
              <a:gd name="adj" fmla="val 84286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10422195" y="5220057"/>
            <a:ext cx="550426" cy="550426"/>
          </a:xfrm>
          <a:prstGeom prst="roundRect">
            <a:avLst>
              <a:gd name="adj" fmla="val 166126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10587335" y="5357693"/>
            <a:ext cx="220147" cy="275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1700" b="0" i="0" u="none" strike="noStrike" cap="none"/>
          </a:p>
        </p:txBody>
      </p:sp>
      <p:sp>
        <p:nvSpPr>
          <p:cNvPr id="208" name="Google Shape;208;p17"/>
          <p:cNvSpPr/>
          <p:nvPr/>
        </p:nvSpPr>
        <p:spPr>
          <a:xfrm>
            <a:off x="7613213" y="5953958"/>
            <a:ext cx="2293739" cy="28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Crisis Support</a:t>
            </a:r>
            <a:endParaRPr sz="1800" b="0" i="0" u="none" strike="noStrike" cap="none"/>
          </a:p>
        </p:txBody>
      </p:sp>
      <p:sp>
        <p:nvSpPr>
          <p:cNvPr id="209" name="Google Shape;209;p17"/>
          <p:cNvSpPr/>
          <p:nvPr/>
        </p:nvSpPr>
        <p:spPr>
          <a:xfrm>
            <a:off x="7613213" y="6350675"/>
            <a:ext cx="6168509" cy="586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Immediate, one-click access to local and international crisis hotlines and resources, available 24/7 for urgent situations.</a:t>
            </a:r>
            <a:endParaRPr sz="1400" b="0" i="0" u="none" strike="noStrike" cap="none"/>
          </a:p>
        </p:txBody>
      </p:sp>
      <p:pic>
        <p:nvPicPr>
          <p:cNvPr id="210" name="Google Shape;2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4650" y="7601775"/>
            <a:ext cx="2475775" cy="5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/>
          <p:nvPr/>
        </p:nvSpPr>
        <p:spPr>
          <a:xfrm>
            <a:off x="639842" y="665321"/>
            <a:ext cx="12944475" cy="571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Inter"/>
              <a:buNone/>
            </a:pPr>
            <a:r>
              <a:rPr lang="en-US" sz="35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Profound Impact: Transforming Mental Health Access</a:t>
            </a:r>
            <a:endParaRPr sz="3550" b="0" i="0" u="none" strike="noStrike" cap="none"/>
          </a:p>
        </p:txBody>
      </p:sp>
      <p:sp>
        <p:nvSpPr>
          <p:cNvPr id="217" name="Google Shape;217;p18"/>
          <p:cNvSpPr/>
          <p:nvPr/>
        </p:nvSpPr>
        <p:spPr>
          <a:xfrm>
            <a:off x="639842" y="1602224"/>
            <a:ext cx="13350716" cy="5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Empath.ai addresses the critical shortcomings of traditional mental health services, offering a transformative solution that provides immediate, effective, and judgment-free support to those who need it most.</a:t>
            </a:r>
            <a:endParaRPr sz="1400" b="0" i="0" u="none" strike="noStrike" cap="none" dirty="0"/>
          </a:p>
        </p:txBody>
      </p:sp>
      <p:sp>
        <p:nvSpPr>
          <p:cNvPr id="218" name="Google Shape;218;p18"/>
          <p:cNvSpPr/>
          <p:nvPr/>
        </p:nvSpPr>
        <p:spPr>
          <a:xfrm>
            <a:off x="639842" y="2575679"/>
            <a:ext cx="22855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Current Reality</a:t>
            </a:r>
            <a:endParaRPr sz="1750" b="0" i="0" u="none" strike="noStrike" cap="none"/>
          </a:p>
        </p:txBody>
      </p:sp>
      <p:sp>
        <p:nvSpPr>
          <p:cNvPr id="219" name="Google Shape;219;p18"/>
          <p:cNvSpPr/>
          <p:nvPr/>
        </p:nvSpPr>
        <p:spPr>
          <a:xfrm>
            <a:off x="639842" y="3044190"/>
            <a:ext cx="6452354" cy="29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60%</a:t>
            </a: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of individuals struggle to access therapy.</a:t>
            </a:r>
            <a:endParaRPr sz="1400" b="0" i="0" u="none" strike="noStrike" cap="none"/>
          </a:p>
        </p:txBody>
      </p:sp>
      <p:sp>
        <p:nvSpPr>
          <p:cNvPr id="220" name="Google Shape;220;p18"/>
          <p:cNvSpPr/>
          <p:nvPr/>
        </p:nvSpPr>
        <p:spPr>
          <a:xfrm>
            <a:off x="639842" y="3400663"/>
            <a:ext cx="6452354" cy="29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Char char="•"/>
            </a:pP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Weeks or months are spent on waiting lists to see a counsellor.</a:t>
            </a:r>
            <a:endParaRPr sz="1400" b="0" i="0" u="none" strike="noStrike" cap="none"/>
          </a:p>
        </p:txBody>
      </p:sp>
      <p:sp>
        <p:nvSpPr>
          <p:cNvPr id="221" name="Google Shape;221;p18"/>
          <p:cNvSpPr/>
          <p:nvPr/>
        </p:nvSpPr>
        <p:spPr>
          <a:xfrm>
            <a:off x="639842" y="3757136"/>
            <a:ext cx="6452354" cy="5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Char char="•"/>
            </a:pP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 immediate support is available during critical moments, like at 3 AM.</a:t>
            </a:r>
            <a:endParaRPr sz="1400" b="0" i="0" u="none" strike="noStrike" cap="none"/>
          </a:p>
        </p:txBody>
      </p:sp>
      <p:sp>
        <p:nvSpPr>
          <p:cNvPr id="222" name="Google Shape;222;p18"/>
          <p:cNvSpPr/>
          <p:nvPr/>
        </p:nvSpPr>
        <p:spPr>
          <a:xfrm>
            <a:off x="639842" y="4406146"/>
            <a:ext cx="6452354" cy="29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Char char="•"/>
            </a:pP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Mental health stigma remains a significant barrier.</a:t>
            </a:r>
            <a:endParaRPr sz="1400" b="0" i="0" u="none" strike="noStrike" cap="none"/>
          </a:p>
        </p:txBody>
      </p:sp>
      <p:sp>
        <p:nvSpPr>
          <p:cNvPr id="223" name="Google Shape;223;p18"/>
          <p:cNvSpPr/>
          <p:nvPr/>
        </p:nvSpPr>
        <p:spPr>
          <a:xfrm>
            <a:off x="7545824" y="2575679"/>
            <a:ext cx="25632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Empath.ai's</a:t>
            </a:r>
            <a:r>
              <a:rPr lang="en-US" sz="17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Solution</a:t>
            </a:r>
            <a:endParaRPr sz="1750" b="0" i="0" u="none" strike="noStrike" cap="none" dirty="0"/>
          </a:p>
        </p:txBody>
      </p:sp>
      <p:sp>
        <p:nvSpPr>
          <p:cNvPr id="224" name="Google Shape;224;p18"/>
          <p:cNvSpPr/>
          <p:nvPr/>
        </p:nvSpPr>
        <p:spPr>
          <a:xfrm>
            <a:off x="7545824" y="3044190"/>
            <a:ext cx="6452354" cy="29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Instant, 24/7 web-based access</a:t>
            </a: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to support.</a:t>
            </a:r>
            <a:endParaRPr sz="1400" b="0" i="0" u="none" strike="noStrike" cap="none"/>
          </a:p>
        </p:txBody>
      </p:sp>
      <p:sp>
        <p:nvSpPr>
          <p:cNvPr id="225" name="Google Shape;225;p18"/>
          <p:cNvSpPr/>
          <p:nvPr/>
        </p:nvSpPr>
        <p:spPr>
          <a:xfrm>
            <a:off x="7545824" y="3400663"/>
            <a:ext cx="6452354" cy="29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Judgment-free conversations</a:t>
            </a: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eliminating shame and waiting.</a:t>
            </a:r>
            <a:endParaRPr sz="1400" b="0" i="0" u="none" strike="noStrike" cap="none"/>
          </a:p>
        </p:txBody>
      </p:sp>
      <p:sp>
        <p:nvSpPr>
          <p:cNvPr id="226" name="Google Shape;226;p18"/>
          <p:cNvSpPr/>
          <p:nvPr/>
        </p:nvSpPr>
        <p:spPr>
          <a:xfrm>
            <a:off x="7545824" y="3757136"/>
            <a:ext cx="6452354" cy="29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Continuous learning</a:t>
            </a: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to personalise what helps </a:t>
            </a:r>
            <a:r>
              <a:rPr lang="en-US" sz="14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400" b="0" i="0" u="none" strike="noStrike" cap="none"/>
          </a:p>
        </p:txBody>
      </p:sp>
      <p:sp>
        <p:nvSpPr>
          <p:cNvPr id="227" name="Google Shape;227;p18"/>
          <p:cNvSpPr/>
          <p:nvPr/>
        </p:nvSpPr>
        <p:spPr>
          <a:xfrm>
            <a:off x="7545824" y="4113609"/>
            <a:ext cx="6452354" cy="29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Early depression risk assessment</a:t>
            </a: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for timely intervention.</a:t>
            </a:r>
            <a:endParaRPr sz="1400" b="0" i="0" u="none" strike="noStrike" cap="none"/>
          </a:p>
        </p:txBody>
      </p:sp>
      <p:sp>
        <p:nvSpPr>
          <p:cNvPr id="228" name="Google Shape;228;p18"/>
          <p:cNvSpPr/>
          <p:nvPr/>
        </p:nvSpPr>
        <p:spPr>
          <a:xfrm>
            <a:off x="7545824" y="4470082"/>
            <a:ext cx="6452354" cy="29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Free and accessible</a:t>
            </a: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to everyone, everywhere.</a:t>
            </a:r>
            <a:endParaRPr sz="1400" b="0" i="0" u="none" strike="noStrike" cap="none"/>
          </a:p>
        </p:txBody>
      </p:sp>
      <p:sp>
        <p:nvSpPr>
          <p:cNvPr id="229" name="Google Shape;229;p18"/>
          <p:cNvSpPr/>
          <p:nvPr/>
        </p:nvSpPr>
        <p:spPr>
          <a:xfrm>
            <a:off x="639842" y="5100757"/>
            <a:ext cx="22855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Quantifiable Impact</a:t>
            </a:r>
            <a:endParaRPr sz="1750" b="0" i="0" u="none" strike="noStrike" cap="none"/>
          </a:p>
        </p:txBody>
      </p:sp>
      <p:sp>
        <p:nvSpPr>
          <p:cNvPr id="230" name="Google Shape;230;p18"/>
          <p:cNvSpPr/>
          <p:nvPr/>
        </p:nvSpPr>
        <p:spPr>
          <a:xfrm>
            <a:off x="639842" y="5752028"/>
            <a:ext cx="4297918" cy="60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4750"/>
              <a:buFont typeface="Inter"/>
              <a:buNone/>
            </a:pPr>
            <a:r>
              <a:rPr lang="en-US" sz="4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+2.3</a:t>
            </a:r>
            <a:endParaRPr sz="4750" b="0" i="0" u="none" strike="noStrike" cap="none"/>
          </a:p>
        </p:txBody>
      </p:sp>
      <p:sp>
        <p:nvSpPr>
          <p:cNvPr id="231" name="Google Shape;231;p18"/>
          <p:cNvSpPr/>
          <p:nvPr/>
        </p:nvSpPr>
        <p:spPr>
          <a:xfrm>
            <a:off x="1646039" y="6583680"/>
            <a:ext cx="22855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Mood Improvement</a:t>
            </a:r>
            <a:endParaRPr sz="1750" b="0" i="0" u="none" strike="noStrike" cap="none"/>
          </a:p>
        </p:txBody>
      </p:sp>
      <p:sp>
        <p:nvSpPr>
          <p:cNvPr id="232" name="Google Shape;232;p18"/>
          <p:cNvSpPr/>
          <p:nvPr/>
        </p:nvSpPr>
        <p:spPr>
          <a:xfrm>
            <a:off x="639842" y="6979087"/>
            <a:ext cx="4297918" cy="5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Average mood improvement points after using Empath.ai strategies.</a:t>
            </a:r>
            <a:endParaRPr sz="1400" b="0" i="0" u="none" strike="noStrike" cap="none" dirty="0"/>
          </a:p>
        </p:txBody>
      </p:sp>
      <p:sp>
        <p:nvSpPr>
          <p:cNvPr id="233" name="Google Shape;233;p18"/>
          <p:cNvSpPr/>
          <p:nvPr/>
        </p:nvSpPr>
        <p:spPr>
          <a:xfrm>
            <a:off x="5166241" y="5752028"/>
            <a:ext cx="4297918" cy="60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4750"/>
              <a:buFont typeface="Inter"/>
              <a:buNone/>
            </a:pPr>
            <a:r>
              <a:rPr lang="en-US" sz="4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4.2/5</a:t>
            </a:r>
            <a:endParaRPr sz="4750" b="0" i="0" u="none" strike="noStrike" cap="none"/>
          </a:p>
        </p:txBody>
      </p:sp>
      <p:sp>
        <p:nvSpPr>
          <p:cNvPr id="234" name="Google Shape;234;p18"/>
          <p:cNvSpPr/>
          <p:nvPr/>
        </p:nvSpPr>
        <p:spPr>
          <a:xfrm>
            <a:off x="6172438" y="6583680"/>
            <a:ext cx="22855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 Satisfaction</a:t>
            </a:r>
            <a:endParaRPr sz="1750" b="0" i="0" u="none" strike="noStrike" cap="none"/>
          </a:p>
        </p:txBody>
      </p:sp>
      <p:sp>
        <p:nvSpPr>
          <p:cNvPr id="235" name="Google Shape;235;p18"/>
          <p:cNvSpPr/>
          <p:nvPr/>
        </p:nvSpPr>
        <p:spPr>
          <a:xfrm>
            <a:off x="5166241" y="6979087"/>
            <a:ext cx="4297918" cy="5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Average rating for helpfulness of strategies provided by the platform.</a:t>
            </a:r>
            <a:endParaRPr sz="1400" b="0" i="0" u="none" strike="noStrike" cap="none"/>
          </a:p>
        </p:txBody>
      </p:sp>
      <p:sp>
        <p:nvSpPr>
          <p:cNvPr id="236" name="Google Shape;236;p18"/>
          <p:cNvSpPr/>
          <p:nvPr/>
        </p:nvSpPr>
        <p:spPr>
          <a:xfrm>
            <a:off x="9692640" y="5752028"/>
            <a:ext cx="4297918" cy="60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4750"/>
              <a:buFont typeface="Inter"/>
              <a:buNone/>
            </a:pPr>
            <a:r>
              <a:rPr lang="en-US" sz="4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95%</a:t>
            </a:r>
            <a:endParaRPr sz="4750" b="0" i="0" u="none" strike="noStrike" cap="none"/>
          </a:p>
        </p:txBody>
      </p:sp>
      <p:sp>
        <p:nvSpPr>
          <p:cNvPr id="237" name="Google Shape;237;p18"/>
          <p:cNvSpPr/>
          <p:nvPr/>
        </p:nvSpPr>
        <p:spPr>
          <a:xfrm>
            <a:off x="10477262" y="6583680"/>
            <a:ext cx="27286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Risk Detection Accuracy</a:t>
            </a:r>
            <a:endParaRPr sz="1750" b="0" i="0" u="none" strike="noStrike" cap="none"/>
          </a:p>
        </p:txBody>
      </p:sp>
      <p:sp>
        <p:nvSpPr>
          <p:cNvPr id="238" name="Google Shape;238;p18"/>
          <p:cNvSpPr/>
          <p:nvPr/>
        </p:nvSpPr>
        <p:spPr>
          <a:xfrm>
            <a:off x="9692640" y="6979087"/>
            <a:ext cx="4297918" cy="5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Precision in identifying concerning patterns associated with depression.</a:t>
            </a:r>
            <a:endParaRPr sz="1400" b="0" i="0" u="none" strike="noStrike" cap="none"/>
          </a:p>
        </p:txBody>
      </p:sp>
      <p:pic>
        <p:nvPicPr>
          <p:cNvPr id="239" name="Google Shape;2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4650" y="7601775"/>
            <a:ext cx="2475775" cy="5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/>
          <p:nvPr/>
        </p:nvSpPr>
        <p:spPr>
          <a:xfrm>
            <a:off x="707588" y="556022"/>
            <a:ext cx="13215223" cy="1263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50"/>
              <a:buFont typeface="Inter"/>
              <a:buNone/>
            </a:pPr>
            <a:r>
              <a:rPr lang="en-US" sz="39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Engineering Behind Empathy: Our Technical Foundation</a:t>
            </a:r>
            <a:endParaRPr sz="3950" b="0" i="0" u="none" strike="noStrike" cap="none"/>
          </a:p>
        </p:txBody>
      </p:sp>
      <p:sp>
        <p:nvSpPr>
          <p:cNvPr id="246" name="Google Shape;246;p19"/>
          <p:cNvSpPr/>
          <p:nvPr/>
        </p:nvSpPr>
        <p:spPr>
          <a:xfrm>
            <a:off x="707588" y="2224087"/>
            <a:ext cx="13215223" cy="64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Empath.ai is built on a robust, privacy-first technical architecture, leveraging advanced AI and secure data management to deliver its empathetic and intelligent support.</a:t>
            </a:r>
            <a:endParaRPr sz="1550" b="0" i="0" u="none" strike="noStrike" cap="none" dirty="0"/>
          </a:p>
        </p:txBody>
      </p:sp>
      <p:sp>
        <p:nvSpPr>
          <p:cNvPr id="247" name="Google Shape;247;p19"/>
          <p:cNvSpPr/>
          <p:nvPr/>
        </p:nvSpPr>
        <p:spPr>
          <a:xfrm>
            <a:off x="707588" y="3098244"/>
            <a:ext cx="202168" cy="25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550" b="0" i="0" u="none" strike="noStrike" cap="none"/>
          </a:p>
        </p:txBody>
      </p:sp>
      <p:sp>
        <p:nvSpPr>
          <p:cNvPr id="248" name="Google Shape;248;p19"/>
          <p:cNvSpPr/>
          <p:nvPr/>
        </p:nvSpPr>
        <p:spPr>
          <a:xfrm>
            <a:off x="707588" y="3418880"/>
            <a:ext cx="6506528" cy="2286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707588" y="3565684"/>
            <a:ext cx="2527459" cy="315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Inter"/>
              <a:buNone/>
            </a:pPr>
            <a:r>
              <a:rPr lang="en-US" sz="19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AI Training Data</a:t>
            </a:r>
            <a:endParaRPr sz="1950" b="0" i="0" u="none" strike="noStrike" cap="none"/>
          </a:p>
        </p:txBody>
      </p:sp>
      <p:sp>
        <p:nvSpPr>
          <p:cNvPr id="250" name="Google Shape;250;p19"/>
          <p:cNvSpPr/>
          <p:nvPr/>
        </p:nvSpPr>
        <p:spPr>
          <a:xfrm>
            <a:off x="707588" y="4002762"/>
            <a:ext cx="6506528" cy="1293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 utilise </a:t>
            </a: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Google's GoEmotions</a:t>
            </a: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(58k+ real examples for 28 emotions), a vast </a:t>
            </a: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Mental Health Chat Dataset</a:t>
            </a: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(510k+ therapist conversations), and </a:t>
            </a: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Kaggle Depression Data</a:t>
            </a: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for early warning patterns.</a:t>
            </a:r>
            <a:endParaRPr sz="1550" b="0" i="0" u="none" strike="noStrike" cap="none"/>
          </a:p>
        </p:txBody>
      </p:sp>
      <p:sp>
        <p:nvSpPr>
          <p:cNvPr id="251" name="Google Shape;251;p19"/>
          <p:cNvSpPr/>
          <p:nvPr/>
        </p:nvSpPr>
        <p:spPr>
          <a:xfrm>
            <a:off x="7416284" y="3098244"/>
            <a:ext cx="202168" cy="25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550" b="0" i="0" u="none" strike="noStrike" cap="none"/>
          </a:p>
        </p:txBody>
      </p:sp>
      <p:sp>
        <p:nvSpPr>
          <p:cNvPr id="252" name="Google Shape;252;p19"/>
          <p:cNvSpPr/>
          <p:nvPr/>
        </p:nvSpPr>
        <p:spPr>
          <a:xfrm>
            <a:off x="7416284" y="3418880"/>
            <a:ext cx="6506528" cy="2286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7416284" y="3565684"/>
            <a:ext cx="2862620" cy="315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Inter"/>
              <a:buNone/>
            </a:pPr>
            <a:r>
              <a:rPr lang="en-US" sz="19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Core Technology Stack</a:t>
            </a:r>
            <a:endParaRPr sz="1950" b="0" i="0" u="none" strike="noStrike" cap="none"/>
          </a:p>
        </p:txBody>
      </p:sp>
      <p:sp>
        <p:nvSpPr>
          <p:cNvPr id="254" name="Google Shape;254;p19"/>
          <p:cNvSpPr/>
          <p:nvPr/>
        </p:nvSpPr>
        <p:spPr>
          <a:xfrm>
            <a:off x="7416284" y="4002762"/>
            <a:ext cx="6506528" cy="97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Developed as a </a:t>
            </a: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web application</a:t>
            </a: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for universal accessibility, powered by advanced </a:t>
            </a: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AI models</a:t>
            </a: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for emotional detection and response generation, and secured with a </a:t>
            </a: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PostgreSQL database</a:t>
            </a: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50" b="0" i="0" u="none" strike="noStrike" cap="none"/>
          </a:p>
        </p:txBody>
      </p:sp>
      <p:sp>
        <p:nvSpPr>
          <p:cNvPr id="255" name="Google Shape;255;p19"/>
          <p:cNvSpPr/>
          <p:nvPr/>
        </p:nvSpPr>
        <p:spPr>
          <a:xfrm>
            <a:off x="707588" y="5649992"/>
            <a:ext cx="202168" cy="25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550" b="0" i="0" u="none" strike="noStrike" cap="none"/>
          </a:p>
        </p:txBody>
      </p:sp>
      <p:sp>
        <p:nvSpPr>
          <p:cNvPr id="256" name="Google Shape;256;p19"/>
          <p:cNvSpPr/>
          <p:nvPr/>
        </p:nvSpPr>
        <p:spPr>
          <a:xfrm>
            <a:off x="707588" y="5970627"/>
            <a:ext cx="6506528" cy="2286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707588" y="6117431"/>
            <a:ext cx="2948583" cy="315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Inter"/>
              <a:buNone/>
            </a:pPr>
            <a:r>
              <a:rPr lang="en-US" sz="19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 Experience Design</a:t>
            </a:r>
            <a:endParaRPr sz="1950" b="0" i="0" u="none" strike="noStrike" cap="none"/>
          </a:p>
        </p:txBody>
      </p:sp>
      <p:sp>
        <p:nvSpPr>
          <p:cNvPr id="258" name="Google Shape;258;p19"/>
          <p:cNvSpPr/>
          <p:nvPr/>
        </p:nvSpPr>
        <p:spPr>
          <a:xfrm>
            <a:off x="707588" y="6554510"/>
            <a:ext cx="6506528" cy="97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responsive design</a:t>
            </a: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meticulously crafted from Figma mockups, ensures a seamless and intuitive user experience across any device.</a:t>
            </a:r>
            <a:endParaRPr sz="1550" b="0" i="0" u="none" strike="noStrike" cap="none"/>
          </a:p>
        </p:txBody>
      </p:sp>
      <p:sp>
        <p:nvSpPr>
          <p:cNvPr id="259" name="Google Shape;259;p19"/>
          <p:cNvSpPr/>
          <p:nvPr/>
        </p:nvSpPr>
        <p:spPr>
          <a:xfrm>
            <a:off x="7416284" y="5649992"/>
            <a:ext cx="202168" cy="25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1550" b="0" i="0" u="none" strike="noStrike" cap="none"/>
          </a:p>
        </p:txBody>
      </p:sp>
      <p:sp>
        <p:nvSpPr>
          <p:cNvPr id="260" name="Google Shape;260;p19"/>
          <p:cNvSpPr/>
          <p:nvPr/>
        </p:nvSpPr>
        <p:spPr>
          <a:xfrm>
            <a:off x="7416284" y="5970627"/>
            <a:ext cx="6506528" cy="2286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7416284" y="6117431"/>
            <a:ext cx="2891433" cy="315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Inter"/>
              <a:buNone/>
            </a:pPr>
            <a:r>
              <a:rPr lang="en-US" sz="19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 Security &amp; Privacy</a:t>
            </a:r>
            <a:endParaRPr sz="1950" b="0" i="0" u="none" strike="noStrike" cap="none"/>
          </a:p>
        </p:txBody>
      </p:sp>
      <p:sp>
        <p:nvSpPr>
          <p:cNvPr id="262" name="Google Shape;262;p19"/>
          <p:cNvSpPr/>
          <p:nvPr/>
        </p:nvSpPr>
        <p:spPr>
          <a:xfrm>
            <a:off x="7416284" y="6554510"/>
            <a:ext cx="6506528" cy="64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All user data is </a:t>
            </a: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encrypted</a:t>
            </a: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and guaranteed to be </a:t>
            </a:r>
            <a:r>
              <a:rPr lang="en-US" sz="15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never shared</a:t>
            </a: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upholding the highest standards of privacy and trust.</a:t>
            </a:r>
            <a:endParaRPr sz="1550" b="0" i="0" u="none" strike="noStrike" cap="none"/>
          </a:p>
        </p:txBody>
      </p:sp>
      <p:pic>
        <p:nvPicPr>
          <p:cNvPr id="263" name="Google Shape;26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4650" y="7601775"/>
            <a:ext cx="2475775" cy="5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/>
          <p:nvPr/>
        </p:nvSpPr>
        <p:spPr>
          <a:xfrm>
            <a:off x="765453" y="601385"/>
            <a:ext cx="11533584" cy="68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Inter"/>
              <a:buNone/>
            </a:pPr>
            <a:r>
              <a:rPr lang="en-US" sz="43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Measuring Success: Impact &amp; Performance</a:t>
            </a:r>
            <a:endParaRPr sz="4300" b="0" i="0" u="none" strike="noStrike" cap="none"/>
          </a:p>
        </p:txBody>
      </p:sp>
      <p:sp>
        <p:nvSpPr>
          <p:cNvPr id="270" name="Google Shape;270;p20"/>
          <p:cNvSpPr/>
          <p:nvPr/>
        </p:nvSpPr>
        <p:spPr>
          <a:xfrm>
            <a:off x="765453" y="1722358"/>
            <a:ext cx="13099494" cy="69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lang="en-US" sz="170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Our commitment to excellence is reflected in our rigorous measurement of both technical performance and user impact, ensuring Empath.ai consistently delivers on its promise of effective mental health support.</a:t>
            </a:r>
            <a:endParaRPr sz="1700" b="0" i="0" u="none" strike="noStrike" cap="none" dirty="0"/>
          </a:p>
        </p:txBody>
      </p:sp>
      <p:sp>
        <p:nvSpPr>
          <p:cNvPr id="271" name="Google Shape;271;p20"/>
          <p:cNvSpPr/>
          <p:nvPr/>
        </p:nvSpPr>
        <p:spPr>
          <a:xfrm>
            <a:off x="765453" y="2886908"/>
            <a:ext cx="3100626" cy="34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Inter"/>
              <a:buNone/>
            </a:pPr>
            <a:r>
              <a:rPr lang="en-US" sz="21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Technical Performance</a:t>
            </a:r>
            <a:endParaRPr sz="2150" b="0" i="0" u="none" strike="noStrike" cap="none"/>
          </a:p>
        </p:txBody>
      </p:sp>
      <p:sp>
        <p:nvSpPr>
          <p:cNvPr id="272" name="Google Shape;272;p20"/>
          <p:cNvSpPr/>
          <p:nvPr/>
        </p:nvSpPr>
        <p:spPr>
          <a:xfrm>
            <a:off x="765453" y="3447336"/>
            <a:ext cx="6282928" cy="34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Emotion detection accuracy: </a:t>
            </a:r>
            <a:r>
              <a:rPr lang="en-US" sz="17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89%+</a:t>
            </a:r>
            <a:endParaRPr sz="1700" b="0" i="0" u="none" strike="noStrike" cap="none"/>
          </a:p>
        </p:txBody>
      </p:sp>
      <p:sp>
        <p:nvSpPr>
          <p:cNvPr id="273" name="Google Shape;273;p20"/>
          <p:cNvSpPr/>
          <p:nvPr/>
        </p:nvSpPr>
        <p:spPr>
          <a:xfrm>
            <a:off x="765453" y="3873698"/>
            <a:ext cx="6282928" cy="34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Response time: </a:t>
            </a:r>
            <a:r>
              <a:rPr lang="en-US" sz="17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&lt; 500ms</a:t>
            </a:r>
            <a:r>
              <a:rPr lang="en-US" sz="17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(instantaneous feel)</a:t>
            </a:r>
            <a:endParaRPr sz="1700" b="0" i="0" u="none" strike="noStrike" cap="none"/>
          </a:p>
        </p:txBody>
      </p:sp>
      <p:sp>
        <p:nvSpPr>
          <p:cNvPr id="274" name="Google Shape;274;p20"/>
          <p:cNvSpPr/>
          <p:nvPr/>
        </p:nvSpPr>
        <p:spPr>
          <a:xfrm>
            <a:off x="765453" y="4300061"/>
            <a:ext cx="6282928" cy="34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Uptime: </a:t>
            </a:r>
            <a:r>
              <a:rPr lang="en-US" sz="17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99.5%+</a:t>
            </a:r>
            <a:r>
              <a:rPr lang="en-US" sz="17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(always available)</a:t>
            </a:r>
            <a:endParaRPr sz="1700" b="0" i="0" u="none" strike="noStrike" cap="none"/>
          </a:p>
        </p:txBody>
      </p:sp>
      <p:sp>
        <p:nvSpPr>
          <p:cNvPr id="275" name="Google Shape;275;p20"/>
          <p:cNvSpPr/>
          <p:nvPr/>
        </p:nvSpPr>
        <p:spPr>
          <a:xfrm>
            <a:off x="7589639" y="2886908"/>
            <a:ext cx="2734032" cy="34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Inter"/>
              <a:buNone/>
            </a:pPr>
            <a:r>
              <a:rPr lang="en-US" sz="21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 Impact</a:t>
            </a:r>
            <a:endParaRPr sz="2150" b="0" i="0" u="none" strike="noStrike" cap="none"/>
          </a:p>
        </p:txBody>
      </p:sp>
      <p:sp>
        <p:nvSpPr>
          <p:cNvPr id="276" name="Google Shape;276;p20"/>
          <p:cNvSpPr/>
          <p:nvPr/>
        </p:nvSpPr>
        <p:spPr>
          <a:xfrm>
            <a:off x="7589639" y="3447336"/>
            <a:ext cx="6282928" cy="34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Average mood improvement: </a:t>
            </a:r>
            <a:r>
              <a:rPr lang="en-US" sz="17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+2.3 points</a:t>
            </a:r>
            <a:endParaRPr sz="1700" b="0" i="0" u="none" strike="noStrike" cap="none"/>
          </a:p>
        </p:txBody>
      </p:sp>
      <p:sp>
        <p:nvSpPr>
          <p:cNvPr id="277" name="Google Shape;277;p20"/>
          <p:cNvSpPr/>
          <p:nvPr/>
        </p:nvSpPr>
        <p:spPr>
          <a:xfrm>
            <a:off x="7589639" y="3873698"/>
            <a:ext cx="6282928" cy="34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Strategy completion rate: </a:t>
            </a:r>
            <a:r>
              <a:rPr lang="en-US" sz="17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&gt; 40%</a:t>
            </a:r>
            <a:endParaRPr sz="1700" b="0" i="0" u="none" strike="noStrike" cap="none"/>
          </a:p>
        </p:txBody>
      </p:sp>
      <p:sp>
        <p:nvSpPr>
          <p:cNvPr id="278" name="Google Shape;278;p20"/>
          <p:cNvSpPr/>
          <p:nvPr/>
        </p:nvSpPr>
        <p:spPr>
          <a:xfrm>
            <a:off x="7589639" y="4300061"/>
            <a:ext cx="6282928" cy="34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Retention: </a:t>
            </a:r>
            <a:r>
              <a:rPr lang="en-US" sz="17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&gt; 70%</a:t>
            </a:r>
            <a:r>
              <a:rPr lang="en-US" sz="17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of users active for 1-4 weeks</a:t>
            </a:r>
            <a:endParaRPr sz="1700" b="0" i="0" u="none" strike="noStrike" cap="none"/>
          </a:p>
        </p:txBody>
      </p:sp>
      <p:sp>
        <p:nvSpPr>
          <p:cNvPr id="279" name="Google Shape;279;p20"/>
          <p:cNvSpPr/>
          <p:nvPr/>
        </p:nvSpPr>
        <p:spPr>
          <a:xfrm>
            <a:off x="7589639" y="4726424"/>
            <a:ext cx="6282928" cy="34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 satisfaction: </a:t>
            </a:r>
            <a:r>
              <a:rPr lang="en-US" sz="17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4.2/5 stars</a:t>
            </a:r>
            <a:r>
              <a:rPr lang="en-US" sz="17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rating</a:t>
            </a:r>
            <a:endParaRPr sz="1700" b="0" i="0" u="none" strike="noStrike" cap="none"/>
          </a:p>
        </p:txBody>
      </p:sp>
      <p:sp>
        <p:nvSpPr>
          <p:cNvPr id="280" name="Google Shape;280;p20"/>
          <p:cNvSpPr/>
          <p:nvPr/>
        </p:nvSpPr>
        <p:spPr>
          <a:xfrm>
            <a:off x="765453" y="5480804"/>
            <a:ext cx="2734032" cy="34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Inter"/>
              <a:buNone/>
            </a:pPr>
            <a:r>
              <a:rPr lang="en-US" sz="21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Health Outcomes</a:t>
            </a:r>
            <a:endParaRPr sz="2150" b="0" i="0" u="none" strike="noStrike" cap="none"/>
          </a:p>
        </p:txBody>
      </p:sp>
      <p:sp>
        <p:nvSpPr>
          <p:cNvPr id="281" name="Google Shape;281;p20"/>
          <p:cNvSpPr/>
          <p:nvPr/>
        </p:nvSpPr>
        <p:spPr>
          <a:xfrm>
            <a:off x="765453" y="6259830"/>
            <a:ext cx="5438299" cy="273368"/>
          </a:xfrm>
          <a:prstGeom prst="roundRect">
            <a:avLst>
              <a:gd name="adj" fmla="val 33605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765453" y="6259830"/>
            <a:ext cx="5166360" cy="273368"/>
          </a:xfrm>
          <a:prstGeom prst="roundRect">
            <a:avLst>
              <a:gd name="adj" fmla="val 33605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6367701" y="6259830"/>
            <a:ext cx="810816" cy="27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lang="en-US" sz="21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95%+</a:t>
            </a:r>
            <a:endParaRPr sz="2150" b="0" i="0" u="none" strike="noStrike" cap="none"/>
          </a:p>
        </p:txBody>
      </p:sp>
      <p:sp>
        <p:nvSpPr>
          <p:cNvPr id="284" name="Google Shape;284;p20"/>
          <p:cNvSpPr/>
          <p:nvPr/>
        </p:nvSpPr>
        <p:spPr>
          <a:xfrm>
            <a:off x="765453" y="6806446"/>
            <a:ext cx="3506391" cy="34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lang="en-US" sz="21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Depression Risk Detection</a:t>
            </a:r>
            <a:endParaRPr sz="2150" b="0" i="0" u="none" strike="noStrike" cap="none"/>
          </a:p>
        </p:txBody>
      </p:sp>
      <p:sp>
        <p:nvSpPr>
          <p:cNvPr id="285" name="Google Shape;285;p20"/>
          <p:cNvSpPr/>
          <p:nvPr/>
        </p:nvSpPr>
        <p:spPr>
          <a:xfrm>
            <a:off x="765453" y="7279362"/>
            <a:ext cx="6413063" cy="34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Accuracy in identifying early signs of depression.</a:t>
            </a:r>
            <a:endParaRPr sz="1700" b="0" i="0" u="none" strike="noStrike" cap="none"/>
          </a:p>
        </p:txBody>
      </p:sp>
      <p:sp>
        <p:nvSpPr>
          <p:cNvPr id="286" name="Google Shape;286;p20"/>
          <p:cNvSpPr/>
          <p:nvPr/>
        </p:nvSpPr>
        <p:spPr>
          <a:xfrm>
            <a:off x="7451884" y="6259830"/>
            <a:ext cx="5045035" cy="273368"/>
          </a:xfrm>
          <a:prstGeom prst="roundRect">
            <a:avLst>
              <a:gd name="adj" fmla="val 33605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7451884" y="6259830"/>
            <a:ext cx="100846" cy="273368"/>
          </a:xfrm>
          <a:prstGeom prst="roundRect">
            <a:avLst>
              <a:gd name="adj" fmla="val 91095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0"/>
          <p:cNvSpPr/>
          <p:nvPr/>
        </p:nvSpPr>
        <p:spPr>
          <a:xfrm>
            <a:off x="12660868" y="6259830"/>
            <a:ext cx="1204079" cy="27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lang="en-US" sz="21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&lt;2 clicks</a:t>
            </a:r>
            <a:endParaRPr sz="2150" b="0" i="0" u="none" strike="noStrike" cap="none"/>
          </a:p>
        </p:txBody>
      </p:sp>
      <p:sp>
        <p:nvSpPr>
          <p:cNvPr id="289" name="Google Shape;289;p20"/>
          <p:cNvSpPr/>
          <p:nvPr/>
        </p:nvSpPr>
        <p:spPr>
          <a:xfrm>
            <a:off x="7451884" y="6806446"/>
            <a:ext cx="3145512" cy="34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lang="en-US" sz="21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Crisis Resource Access</a:t>
            </a:r>
            <a:endParaRPr sz="2150" b="0" i="0" u="none" strike="noStrike" cap="none"/>
          </a:p>
        </p:txBody>
      </p:sp>
      <p:sp>
        <p:nvSpPr>
          <p:cNvPr id="290" name="Google Shape;290;p20"/>
          <p:cNvSpPr/>
          <p:nvPr/>
        </p:nvSpPr>
        <p:spPr>
          <a:xfrm>
            <a:off x="7451884" y="7279362"/>
            <a:ext cx="6413063" cy="34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Immediate access to critical support in urgent situations.</a:t>
            </a:r>
            <a:endParaRPr sz="1700" b="0" i="0" u="none" strike="noStrike" cap="none"/>
          </a:p>
        </p:txBody>
      </p:sp>
      <p:pic>
        <p:nvPicPr>
          <p:cNvPr id="291" name="Google Shape;2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4650" y="7601775"/>
            <a:ext cx="2475775" cy="5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1"/>
          <p:cNvSpPr/>
          <p:nvPr/>
        </p:nvSpPr>
        <p:spPr>
          <a:xfrm>
            <a:off x="592574" y="899636"/>
            <a:ext cx="7958852" cy="1057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Inter"/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Our Vision: Roadmap to a Full-Scale Mental Wellness Platform</a:t>
            </a:r>
            <a:endParaRPr sz="3300" b="0" i="0" u="none" strike="noStrike" cap="none"/>
          </a:p>
        </p:txBody>
      </p:sp>
      <p:sp>
        <p:nvSpPr>
          <p:cNvPr id="299" name="Google Shape;299;p21"/>
          <p:cNvSpPr/>
          <p:nvPr/>
        </p:nvSpPr>
        <p:spPr>
          <a:xfrm>
            <a:off x="592574" y="2211586"/>
            <a:ext cx="7958852" cy="812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lang="en-US" sz="130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From our Hackathon MVP, Empath.ai is poised for strategic expansion, evolving into a comprehensive platform that continuously innovates to meet the growing global demand for mental health support.</a:t>
            </a:r>
            <a:endParaRPr sz="1300" b="0" i="0" u="none" strike="noStrike" cap="none" dirty="0"/>
          </a:p>
        </p:txBody>
      </p:sp>
      <p:sp>
        <p:nvSpPr>
          <p:cNvPr id="300" name="Google Shape;300;p21"/>
          <p:cNvSpPr/>
          <p:nvPr/>
        </p:nvSpPr>
        <p:spPr>
          <a:xfrm>
            <a:off x="4560570" y="3214568"/>
            <a:ext cx="22860" cy="4115395"/>
          </a:xfrm>
          <a:prstGeom prst="roundRect">
            <a:avLst>
              <a:gd name="adj" fmla="val 311064"/>
            </a:avLst>
          </a:prstGeom>
          <a:solidFill>
            <a:srgbClr val="C0C1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3896499" y="3393519"/>
            <a:ext cx="507921" cy="22860"/>
          </a:xfrm>
          <a:prstGeom prst="roundRect">
            <a:avLst>
              <a:gd name="adj" fmla="val 311064"/>
            </a:avLst>
          </a:prstGeom>
          <a:solidFill>
            <a:srgbClr val="C0C1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4381560" y="3214568"/>
            <a:ext cx="380881" cy="380881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4444960" y="3246239"/>
            <a:ext cx="253960" cy="317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Inter"/>
              <a:buNone/>
            </a:pPr>
            <a:r>
              <a:rPr lang="en-US" sz="19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950" b="0" i="0" u="none" strike="noStrike" cap="none"/>
          </a:p>
        </p:txBody>
      </p:sp>
      <p:sp>
        <p:nvSpPr>
          <p:cNvPr id="304" name="Google Shape;304;p21"/>
          <p:cNvSpPr/>
          <p:nvPr/>
        </p:nvSpPr>
        <p:spPr>
          <a:xfrm>
            <a:off x="1379577" y="3272671"/>
            <a:ext cx="2345888" cy="264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lang="en-US" sz="16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Hackathon MVP (Now)</a:t>
            </a:r>
            <a:endParaRPr sz="1650" b="0" i="0" u="none" strike="noStrike" cap="none"/>
          </a:p>
        </p:txBody>
      </p:sp>
      <p:sp>
        <p:nvSpPr>
          <p:cNvPr id="305" name="Google Shape;305;p21"/>
          <p:cNvSpPr/>
          <p:nvPr/>
        </p:nvSpPr>
        <p:spPr>
          <a:xfrm>
            <a:off x="592574" y="3638788"/>
            <a:ext cx="3132892" cy="27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Chat with emotion detection</a:t>
            </a:r>
            <a:endParaRPr sz="1300" b="0" i="0" u="none" strike="noStrike" cap="none"/>
          </a:p>
        </p:txBody>
      </p:sp>
      <p:sp>
        <p:nvSpPr>
          <p:cNvPr id="306" name="Google Shape;306;p21"/>
          <p:cNvSpPr/>
          <p:nvPr/>
        </p:nvSpPr>
        <p:spPr>
          <a:xfrm>
            <a:off x="592574" y="3968829"/>
            <a:ext cx="3132892" cy="27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Mood logging (1-10 scale)</a:t>
            </a:r>
            <a:endParaRPr sz="1300" b="0" i="0" u="none" strike="noStrike" cap="none"/>
          </a:p>
        </p:txBody>
      </p:sp>
      <p:sp>
        <p:nvSpPr>
          <p:cNvPr id="307" name="Google Shape;307;p21"/>
          <p:cNvSpPr/>
          <p:nvPr/>
        </p:nvSpPr>
        <p:spPr>
          <a:xfrm>
            <a:off x="592574" y="4298871"/>
            <a:ext cx="3132892" cy="54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Coping strategies &amp; risk assessment</a:t>
            </a:r>
            <a:endParaRPr sz="1300" b="0" i="0" u="none" strike="noStrike" cap="none"/>
          </a:p>
        </p:txBody>
      </p:sp>
      <p:sp>
        <p:nvSpPr>
          <p:cNvPr id="308" name="Google Shape;308;p21"/>
          <p:cNvSpPr/>
          <p:nvPr/>
        </p:nvSpPr>
        <p:spPr>
          <a:xfrm>
            <a:off x="592574" y="4899779"/>
            <a:ext cx="3132892" cy="27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Crisis resources</a:t>
            </a:r>
            <a:endParaRPr sz="1300" b="0" i="0" u="none" strike="noStrike" cap="none"/>
          </a:p>
        </p:txBody>
      </p:sp>
      <p:sp>
        <p:nvSpPr>
          <p:cNvPr id="309" name="Google Shape;309;p21"/>
          <p:cNvSpPr/>
          <p:nvPr/>
        </p:nvSpPr>
        <p:spPr>
          <a:xfrm>
            <a:off x="4739580" y="4409361"/>
            <a:ext cx="507921" cy="22860"/>
          </a:xfrm>
          <a:prstGeom prst="roundRect">
            <a:avLst>
              <a:gd name="adj" fmla="val 311064"/>
            </a:avLst>
          </a:prstGeom>
          <a:solidFill>
            <a:srgbClr val="C0C1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4381560" y="4230410"/>
            <a:ext cx="380881" cy="380881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4444960" y="4262080"/>
            <a:ext cx="253960" cy="317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Inter"/>
              <a:buNone/>
            </a:pPr>
            <a:r>
              <a:rPr lang="en-US" sz="19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1950" b="0" i="0" u="none" strike="noStrike" cap="none"/>
          </a:p>
        </p:txBody>
      </p:sp>
      <p:sp>
        <p:nvSpPr>
          <p:cNvPr id="312" name="Google Shape;312;p21"/>
          <p:cNvSpPr/>
          <p:nvPr/>
        </p:nvSpPr>
        <p:spPr>
          <a:xfrm>
            <a:off x="5418534" y="4288512"/>
            <a:ext cx="2542818" cy="264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lang="en-US" sz="16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Phase 2 (Next 3 Months)</a:t>
            </a:r>
            <a:endParaRPr sz="1650" b="0" i="0" u="none" strike="noStrike" cap="none"/>
          </a:p>
        </p:txBody>
      </p:sp>
      <p:sp>
        <p:nvSpPr>
          <p:cNvPr id="313" name="Google Shape;313;p21"/>
          <p:cNvSpPr/>
          <p:nvPr/>
        </p:nvSpPr>
        <p:spPr>
          <a:xfrm>
            <a:off x="5418534" y="4654629"/>
            <a:ext cx="3132892" cy="27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Advanced analytics dashboard</a:t>
            </a:r>
            <a:endParaRPr sz="1300" b="0" i="0" u="none" strike="noStrike" cap="none"/>
          </a:p>
        </p:txBody>
      </p:sp>
      <p:sp>
        <p:nvSpPr>
          <p:cNvPr id="314" name="Google Shape;314;p21"/>
          <p:cNvSpPr/>
          <p:nvPr/>
        </p:nvSpPr>
        <p:spPr>
          <a:xfrm>
            <a:off x="5418534" y="4984671"/>
            <a:ext cx="3132892" cy="54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Voice input/output &amp; community features</a:t>
            </a:r>
            <a:endParaRPr sz="1300" b="0" i="0" u="none" strike="noStrike" cap="none"/>
          </a:p>
        </p:txBody>
      </p:sp>
      <p:sp>
        <p:nvSpPr>
          <p:cNvPr id="315" name="Google Shape;315;p21"/>
          <p:cNvSpPr/>
          <p:nvPr/>
        </p:nvSpPr>
        <p:spPr>
          <a:xfrm>
            <a:off x="5418534" y="5585579"/>
            <a:ext cx="3132892" cy="27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Therapist referral system</a:t>
            </a:r>
            <a:endParaRPr sz="1300" b="0" i="0" u="none" strike="noStrike" cap="none"/>
          </a:p>
        </p:txBody>
      </p:sp>
      <p:sp>
        <p:nvSpPr>
          <p:cNvPr id="316" name="Google Shape;316;p21"/>
          <p:cNvSpPr/>
          <p:nvPr/>
        </p:nvSpPr>
        <p:spPr>
          <a:xfrm>
            <a:off x="5418534" y="5915620"/>
            <a:ext cx="3132892" cy="27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Multi-language support</a:t>
            </a:r>
            <a:endParaRPr sz="1300" b="0" i="0" u="none" strike="noStrike" cap="none"/>
          </a:p>
        </p:txBody>
      </p:sp>
      <p:sp>
        <p:nvSpPr>
          <p:cNvPr id="317" name="Google Shape;317;p21"/>
          <p:cNvSpPr/>
          <p:nvPr/>
        </p:nvSpPr>
        <p:spPr>
          <a:xfrm>
            <a:off x="3896499" y="5688211"/>
            <a:ext cx="507921" cy="22860"/>
          </a:xfrm>
          <a:prstGeom prst="roundRect">
            <a:avLst>
              <a:gd name="adj" fmla="val 311064"/>
            </a:avLst>
          </a:prstGeom>
          <a:solidFill>
            <a:srgbClr val="C0C1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1"/>
          <p:cNvSpPr/>
          <p:nvPr/>
        </p:nvSpPr>
        <p:spPr>
          <a:xfrm>
            <a:off x="4381560" y="5509260"/>
            <a:ext cx="380881" cy="380881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4444960" y="5540931"/>
            <a:ext cx="253960" cy="317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Inter"/>
              <a:buNone/>
            </a:pPr>
            <a:r>
              <a:rPr lang="en-US" sz="19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1950" b="0" i="0" u="none" strike="noStrike" cap="none"/>
          </a:p>
        </p:txBody>
      </p:sp>
      <p:sp>
        <p:nvSpPr>
          <p:cNvPr id="320" name="Google Shape;320;p21"/>
          <p:cNvSpPr/>
          <p:nvPr/>
        </p:nvSpPr>
        <p:spPr>
          <a:xfrm>
            <a:off x="1609130" y="5567363"/>
            <a:ext cx="2116336" cy="264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lang="en-US" sz="16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Phase 3 (Growth)</a:t>
            </a:r>
            <a:endParaRPr sz="1650" b="0" i="0" u="none" strike="noStrike" cap="none"/>
          </a:p>
        </p:txBody>
      </p:sp>
      <p:sp>
        <p:nvSpPr>
          <p:cNvPr id="321" name="Google Shape;321;p21"/>
          <p:cNvSpPr/>
          <p:nvPr/>
        </p:nvSpPr>
        <p:spPr>
          <a:xfrm>
            <a:off x="592574" y="5933480"/>
            <a:ext cx="3132892" cy="27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Mobile apps (iOS/Android)</a:t>
            </a:r>
            <a:endParaRPr sz="1300" b="0" i="0" u="none" strike="noStrike" cap="none"/>
          </a:p>
        </p:txBody>
      </p:sp>
      <p:sp>
        <p:nvSpPr>
          <p:cNvPr id="322" name="Google Shape;322;p21"/>
          <p:cNvSpPr/>
          <p:nvPr/>
        </p:nvSpPr>
        <p:spPr>
          <a:xfrm>
            <a:off x="592574" y="6263521"/>
            <a:ext cx="3132892" cy="27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Wearable integration</a:t>
            </a:r>
            <a:endParaRPr sz="1300" b="0" i="0" u="none" strike="noStrike" cap="none"/>
          </a:p>
        </p:txBody>
      </p:sp>
      <p:sp>
        <p:nvSpPr>
          <p:cNvPr id="323" name="Google Shape;323;p21"/>
          <p:cNvSpPr/>
          <p:nvPr/>
        </p:nvSpPr>
        <p:spPr>
          <a:xfrm>
            <a:off x="592574" y="6593562"/>
            <a:ext cx="3132892" cy="27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Clinic &amp; employer integrations</a:t>
            </a:r>
            <a:endParaRPr sz="1300" b="0" i="0" u="none" strike="noStrike" cap="none"/>
          </a:p>
        </p:txBody>
      </p:sp>
      <p:sp>
        <p:nvSpPr>
          <p:cNvPr id="324" name="Google Shape;324;p21"/>
          <p:cNvSpPr/>
          <p:nvPr/>
        </p:nvSpPr>
        <p:spPr>
          <a:xfrm>
            <a:off x="592574" y="6923603"/>
            <a:ext cx="3132892" cy="27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Research partnerships</a:t>
            </a:r>
            <a:endParaRPr sz="1300" b="0" i="0" u="none" strike="noStrike" cap="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2"/>
          <p:cNvSpPr/>
          <p:nvPr/>
        </p:nvSpPr>
        <p:spPr>
          <a:xfrm>
            <a:off x="648772" y="726519"/>
            <a:ext cx="7846457" cy="1158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nter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Our Ask &amp; Vision: Partnering for a Healthier Future</a:t>
            </a:r>
            <a:endParaRPr sz="3600" b="0" i="0" u="none" strike="noStrike" cap="none"/>
          </a:p>
        </p:txBody>
      </p:sp>
      <p:sp>
        <p:nvSpPr>
          <p:cNvPr id="332" name="Google Shape;332;p22"/>
          <p:cNvSpPr/>
          <p:nvPr/>
        </p:nvSpPr>
        <p:spPr>
          <a:xfrm>
            <a:off x="648772" y="2163008"/>
            <a:ext cx="7846457" cy="88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 invite you to join us in shaping the future of mental health support. Your insights and collaboration are invaluable as we strive to make compassionate, intelligent care universally accessible.</a:t>
            </a:r>
            <a:endParaRPr sz="1450" b="0" i="0" u="none" strike="noStrike" cap="none"/>
          </a:p>
        </p:txBody>
      </p:sp>
      <p:sp>
        <p:nvSpPr>
          <p:cNvPr id="333" name="Google Shape;333;p22"/>
          <p:cNvSpPr/>
          <p:nvPr/>
        </p:nvSpPr>
        <p:spPr>
          <a:xfrm>
            <a:off x="648772" y="3446502"/>
            <a:ext cx="2316956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Our Call to Action</a:t>
            </a:r>
            <a:endParaRPr sz="1800" b="0" i="0" u="none" strike="noStrike" cap="none"/>
          </a:p>
        </p:txBody>
      </p:sp>
      <p:sp>
        <p:nvSpPr>
          <p:cNvPr id="334" name="Google Shape;334;p22"/>
          <p:cNvSpPr/>
          <p:nvPr/>
        </p:nvSpPr>
        <p:spPr>
          <a:xfrm>
            <a:off x="648772" y="3921323"/>
            <a:ext cx="3697129" cy="5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Provide feedback: Does this solution genuinely address a critical problem?</a:t>
            </a:r>
            <a:endParaRPr sz="1450" b="0" i="0" u="none" strike="noStrike" cap="none"/>
          </a:p>
        </p:txBody>
      </p:sp>
      <p:sp>
        <p:nvSpPr>
          <p:cNvPr id="335" name="Google Shape;335;p22"/>
          <p:cNvSpPr/>
          <p:nvPr/>
        </p:nvSpPr>
        <p:spPr>
          <a:xfrm>
            <a:off x="648772" y="4579263"/>
            <a:ext cx="3697129" cy="88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Share your priorities: Which features do you believe are most crucial for future development?</a:t>
            </a:r>
            <a:endParaRPr sz="1450" b="0" i="0" u="none" strike="noStrike" cap="none"/>
          </a:p>
        </p:txBody>
      </p:sp>
      <p:sp>
        <p:nvSpPr>
          <p:cNvPr id="336" name="Google Shape;336;p22"/>
          <p:cNvSpPr/>
          <p:nvPr/>
        </p:nvSpPr>
        <p:spPr>
          <a:xfrm>
            <a:off x="648772" y="5533787"/>
            <a:ext cx="3697129" cy="118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Explore partnerships: Let's discuss opportunities to scale Empath.ai beyond this hackathon and amplify its impact.</a:t>
            </a:r>
            <a:endParaRPr sz="1450" b="0" i="0" u="none" strike="noStrike" cap="none" dirty="0"/>
          </a:p>
        </p:txBody>
      </p:sp>
      <p:sp>
        <p:nvSpPr>
          <p:cNvPr id="337" name="Google Shape;337;p22"/>
          <p:cNvSpPr/>
          <p:nvPr/>
        </p:nvSpPr>
        <p:spPr>
          <a:xfrm>
            <a:off x="4805720" y="3446502"/>
            <a:ext cx="2316956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Our Enduring Vision</a:t>
            </a:r>
            <a:endParaRPr sz="1800" b="0" i="0" u="none" strike="noStrike" cap="none"/>
          </a:p>
        </p:txBody>
      </p:sp>
      <p:sp>
        <p:nvSpPr>
          <p:cNvPr id="338" name="Google Shape;338;p22"/>
          <p:cNvSpPr/>
          <p:nvPr/>
        </p:nvSpPr>
        <p:spPr>
          <a:xfrm>
            <a:off x="5083731" y="3944541"/>
            <a:ext cx="3419118" cy="148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Mental health support should be as accessible as texting a friend, as judgment-free as talking to someone you trust, and as intelligent as professional therapy.</a:t>
            </a:r>
            <a:endParaRPr sz="1450" b="0" i="0" u="none" strike="noStrike" cap="none"/>
          </a:p>
        </p:txBody>
      </p:sp>
      <p:sp>
        <p:nvSpPr>
          <p:cNvPr id="339" name="Google Shape;339;p22"/>
          <p:cNvSpPr/>
          <p:nvPr/>
        </p:nvSpPr>
        <p:spPr>
          <a:xfrm>
            <a:off x="4805720" y="3944541"/>
            <a:ext cx="22860" cy="1482923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0" name="Google Shape;340;p22" descr="preencoded.png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8772" y="6993374"/>
            <a:ext cx="1363980" cy="509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2" descr="preencoded.png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5382" y="6993374"/>
            <a:ext cx="1391126" cy="509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064650" y="7601775"/>
            <a:ext cx="2475775" cy="5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1466</Words>
  <Application>Microsoft Office PowerPoint</Application>
  <PresentationFormat>Custom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Shaun Joseph</cp:lastModifiedBy>
  <cp:revision>1</cp:revision>
  <dcterms:modified xsi:type="dcterms:W3CDTF">2025-12-19T08:37:50Z</dcterms:modified>
</cp:coreProperties>
</file>