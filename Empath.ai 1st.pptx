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</p:sldIdLst>
  <p:sldSz cx="18288000" cy="10287000"/>
  <p:notesSz cx="6858000" cy="9144000"/>
  <p:embeddedFontLst>
    <p:embeddedFont>
      <p:font typeface="Libre Franklin Bold" panose="020B0604020202020204" charset="0"/>
      <p:regular r:id="rId10"/>
    </p:embeddedFont>
    <p:embeddedFont>
      <p:font typeface="Montserrat" panose="00000500000000000000" pitchFamily="2" charset="0"/>
      <p:regular r:id="rId11"/>
    </p:embeddedFont>
    <p:embeddedFont>
      <p:font typeface="Playfair Display Bold" panose="020B0604020202020204" charset="0"/>
      <p:regular r:id="rId12"/>
    </p:embeddedFont>
    <p:embeddedFont>
      <p:font typeface="Source Serif Pro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11420318" y="409278"/>
            <a:ext cx="6524565" cy="1310558"/>
            <a:chOff x="0" y="0"/>
            <a:chExt cx="986902" cy="1982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59231" y="462383"/>
            <a:ext cx="1318423" cy="1204347"/>
            <a:chOff x="0" y="0"/>
            <a:chExt cx="1757897" cy="1605797"/>
          </a:xfrm>
        </p:grpSpPr>
        <p:sp>
          <p:nvSpPr>
            <p:cNvPr id="7" name="TextBox 7"/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269545" y="569680"/>
            <a:ext cx="989755" cy="98975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926680" y="610653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2" name="TextBox 12"/>
          <p:cNvSpPr txBox="1"/>
          <p:nvPr/>
        </p:nvSpPr>
        <p:spPr>
          <a:xfrm>
            <a:off x="289312" y="494377"/>
            <a:ext cx="5457625" cy="117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6887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84576" y="3673091"/>
            <a:ext cx="15318848" cy="1930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00"/>
              </a:lnSpc>
            </a:pPr>
            <a:r>
              <a:rPr lang="en-US" sz="14500" b="1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Libre Franklin Bold"/>
                <a:ea typeface="Libre Franklin Bold"/>
                <a:cs typeface="Libre Franklin Bold"/>
                <a:sym typeface="Libre Franklin Bold"/>
              </a:rPr>
              <a:t>Empath.ai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7526650"/>
            <a:ext cx="4074286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4500" b="1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Libre Franklin Bold"/>
                <a:ea typeface="Libre Franklin Bold"/>
                <a:cs typeface="Libre Franklin Bold"/>
                <a:sym typeface="Libre Franklin Bold"/>
              </a:rPr>
              <a:t>TEAM NAME: </a:t>
            </a:r>
            <a:r>
              <a:rPr lang="en-US" sz="4500" b="1" dirty="0" err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Libre Franklin Bold"/>
                <a:ea typeface="Libre Franklin Bold"/>
                <a:cs typeface="Libre Franklin Bold"/>
                <a:sym typeface="Libre Franklin Bold"/>
              </a:rPr>
              <a:t>Gooners</a:t>
            </a:r>
            <a:r>
              <a:rPr lang="en-US" sz="4500" b="1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Libre Franklin Bold"/>
                <a:ea typeface="Libre Franklin Bold"/>
                <a:cs typeface="Libre Franklin Bold"/>
                <a:sym typeface="Libre Franklin Bold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11420318" y="409278"/>
            <a:ext cx="6524565" cy="1310558"/>
            <a:chOff x="0" y="0"/>
            <a:chExt cx="986902" cy="1982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59231" y="462383"/>
            <a:ext cx="1318423" cy="1204347"/>
            <a:chOff x="0" y="0"/>
            <a:chExt cx="1757897" cy="1605797"/>
          </a:xfrm>
        </p:grpSpPr>
        <p:sp>
          <p:nvSpPr>
            <p:cNvPr id="7" name="TextBox 7"/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269545" y="569680"/>
            <a:ext cx="989755" cy="98975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926680" y="610653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2" name="TextBox 12"/>
          <p:cNvSpPr txBox="1"/>
          <p:nvPr/>
        </p:nvSpPr>
        <p:spPr>
          <a:xfrm>
            <a:off x="289312" y="494377"/>
            <a:ext cx="5457625" cy="117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6887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817978" y="4630733"/>
            <a:ext cx="12652043" cy="1872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73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Mental Health Support Chatbot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 dirty="0"/>
          </a:p>
        </p:txBody>
      </p:sp>
      <p:grpSp>
        <p:nvGrpSpPr>
          <p:cNvPr id="3" name="Group 3"/>
          <p:cNvGrpSpPr/>
          <p:nvPr/>
        </p:nvGrpSpPr>
        <p:grpSpPr>
          <a:xfrm>
            <a:off x="11420318" y="409278"/>
            <a:ext cx="6524565" cy="1310558"/>
            <a:chOff x="0" y="0"/>
            <a:chExt cx="986902" cy="1982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59231" y="462383"/>
            <a:ext cx="1318423" cy="1204347"/>
            <a:chOff x="0" y="0"/>
            <a:chExt cx="1757897" cy="1605797"/>
          </a:xfrm>
        </p:grpSpPr>
        <p:sp>
          <p:nvSpPr>
            <p:cNvPr id="7" name="TextBox 7"/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269545" y="569680"/>
            <a:ext cx="989755" cy="98975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926680" y="610653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2" name="TextBox 12"/>
          <p:cNvSpPr txBox="1"/>
          <p:nvPr/>
        </p:nvSpPr>
        <p:spPr>
          <a:xfrm>
            <a:off x="289312" y="494377"/>
            <a:ext cx="5457625" cy="117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6887" b="1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817978" y="4630733"/>
            <a:ext cx="12652043" cy="3744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73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Our Solution: Empath.ai</a:t>
            </a:r>
          </a:p>
          <a:p>
            <a:pPr algn="ctr">
              <a:lnSpc>
                <a:spcPts val="7300"/>
              </a:lnSpc>
            </a:pPr>
            <a:endParaRPr lang="en-US" sz="7300" dirty="0">
              <a:gradFill>
                <a:gsLst>
                  <a:gs pos="0">
                    <a:srgbClr val="A6A6A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5400000"/>
              </a:gradFill>
              <a:latin typeface="Montserrat"/>
              <a:ea typeface="Montserrat"/>
              <a:cs typeface="Montserrat"/>
              <a:sym typeface="Montserrat"/>
            </a:endParaRPr>
          </a:p>
          <a:p>
            <a:pPr algn="ctr">
              <a:lnSpc>
                <a:spcPts val="7300"/>
              </a:lnSpc>
            </a:pPr>
            <a:r>
              <a:rPr lang="en-US" sz="73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AI-Powered Mental Health Support Chatbot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11420318" y="409278"/>
            <a:ext cx="6524565" cy="1310558"/>
            <a:chOff x="0" y="0"/>
            <a:chExt cx="986902" cy="1982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59231" y="462383"/>
            <a:ext cx="1318423" cy="1204347"/>
            <a:chOff x="0" y="0"/>
            <a:chExt cx="1757897" cy="1605797"/>
          </a:xfrm>
        </p:grpSpPr>
        <p:sp>
          <p:nvSpPr>
            <p:cNvPr id="7" name="TextBox 7"/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269545" y="569680"/>
            <a:ext cx="989755" cy="98975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926680" y="610653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2" name="TextBox 12"/>
          <p:cNvSpPr txBox="1"/>
          <p:nvPr/>
        </p:nvSpPr>
        <p:spPr>
          <a:xfrm>
            <a:off x="289312" y="494377"/>
            <a:ext cx="5457625" cy="117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6887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817978" y="2598781"/>
            <a:ext cx="12652043" cy="5484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66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5 Key Innovations</a:t>
            </a:r>
          </a:p>
          <a:p>
            <a:pPr algn="ctr">
              <a:lnSpc>
                <a:spcPts val="7300"/>
              </a:lnSpc>
            </a:pPr>
            <a:r>
              <a:rPr lang="en-US" sz="32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28-Emotion Detection (vs competitors' 4-6)</a:t>
            </a:r>
          </a:p>
          <a:p>
            <a:pPr algn="ctr">
              <a:lnSpc>
                <a:spcPts val="7300"/>
              </a:lnSpc>
            </a:pPr>
            <a:r>
              <a:rPr lang="en-US" sz="32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Real Therapist-Trained Responses (510k+ conversations)</a:t>
            </a:r>
          </a:p>
          <a:p>
            <a:pPr algn="ctr">
              <a:lnSpc>
                <a:spcPts val="7300"/>
              </a:lnSpc>
            </a:pPr>
            <a:r>
              <a:rPr lang="en-US" sz="32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Feedback Loop Personalization (learns what works for YOU)</a:t>
            </a:r>
          </a:p>
          <a:p>
            <a:pPr algn="ctr">
              <a:lnSpc>
                <a:spcPts val="7300"/>
              </a:lnSpc>
            </a:pPr>
            <a:r>
              <a:rPr lang="en-US" sz="32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Depression Risk Assessment  (unique early warning system)</a:t>
            </a:r>
          </a:p>
          <a:p>
            <a:pPr algn="ctr">
              <a:lnSpc>
                <a:spcPts val="7300"/>
              </a:lnSpc>
            </a:pPr>
            <a:r>
              <a:rPr lang="en-US" sz="32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Zero Friction Web Access (instant + 24/7)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 dirty="0"/>
          </a:p>
        </p:txBody>
      </p:sp>
      <p:grpSp>
        <p:nvGrpSpPr>
          <p:cNvPr id="3" name="Group 3"/>
          <p:cNvGrpSpPr/>
          <p:nvPr/>
        </p:nvGrpSpPr>
        <p:grpSpPr>
          <a:xfrm>
            <a:off x="11420318" y="409278"/>
            <a:ext cx="6524565" cy="1310558"/>
            <a:chOff x="0" y="0"/>
            <a:chExt cx="986902" cy="1982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59231" y="462383"/>
            <a:ext cx="1318423" cy="1204347"/>
            <a:chOff x="0" y="0"/>
            <a:chExt cx="1757897" cy="1605797"/>
          </a:xfrm>
        </p:grpSpPr>
        <p:sp>
          <p:nvSpPr>
            <p:cNvPr id="7" name="TextBox 7"/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269545" y="569680"/>
            <a:ext cx="989755" cy="98975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926680" y="610653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2" name="TextBox 12"/>
          <p:cNvSpPr txBox="1"/>
          <p:nvPr/>
        </p:nvSpPr>
        <p:spPr>
          <a:xfrm>
            <a:off x="289312" y="494377"/>
            <a:ext cx="5457625" cy="117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6887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666399" y="1988367"/>
            <a:ext cx="12652043" cy="1899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73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“WORKFLOW DIAGRAM WITH TECH STACK”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A83679B-8CD1-5C37-8C25-A7A24AF0C2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3862492"/>
            <a:ext cx="6096000" cy="632736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11420318" y="409278"/>
            <a:ext cx="6524565" cy="1310558"/>
            <a:chOff x="0" y="0"/>
            <a:chExt cx="986902" cy="1982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59231" y="462383"/>
            <a:ext cx="1318423" cy="1204347"/>
            <a:chOff x="0" y="0"/>
            <a:chExt cx="1757897" cy="1605797"/>
          </a:xfrm>
        </p:grpSpPr>
        <p:sp>
          <p:nvSpPr>
            <p:cNvPr id="7" name="TextBox 7"/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269545" y="569680"/>
            <a:ext cx="989755" cy="98975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926680" y="610653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2" name="TextBox 12"/>
          <p:cNvSpPr txBox="1"/>
          <p:nvPr/>
        </p:nvSpPr>
        <p:spPr>
          <a:xfrm>
            <a:off x="289312" y="494377"/>
            <a:ext cx="5457625" cy="117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6887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691238" y="1868106"/>
            <a:ext cx="12652043" cy="7299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40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QUICK STATS (For Quick Reference)</a:t>
            </a:r>
          </a:p>
          <a:p>
            <a:pPr algn="ctr">
              <a:lnSpc>
                <a:spcPts val="7300"/>
              </a:lnSpc>
            </a:pPr>
            <a:r>
              <a:rPr lang="en-US" sz="24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Problem: 280M+ people with depression, 60% lack access</a:t>
            </a:r>
          </a:p>
          <a:p>
            <a:pPr algn="ctr">
              <a:lnSpc>
                <a:spcPts val="7300"/>
              </a:lnSpc>
            </a:pPr>
            <a:r>
              <a:rPr lang="en-US" sz="24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Emotion Detection: 28 emotions (7x better than competitors)</a:t>
            </a:r>
          </a:p>
          <a:p>
            <a:pPr algn="ctr">
              <a:lnSpc>
                <a:spcPts val="7300"/>
              </a:lnSpc>
            </a:pPr>
            <a:r>
              <a:rPr lang="en-US" sz="24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Training Data: 510k+ real therapist conversations</a:t>
            </a:r>
          </a:p>
          <a:p>
            <a:pPr algn="ctr">
              <a:lnSpc>
                <a:spcPts val="7300"/>
              </a:lnSpc>
            </a:pPr>
            <a:r>
              <a:rPr lang="en-US" sz="24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Accuracy: 89%+ emotion detection</a:t>
            </a:r>
          </a:p>
          <a:p>
            <a:pPr algn="ctr">
              <a:lnSpc>
                <a:spcPts val="7300"/>
              </a:lnSpc>
            </a:pPr>
            <a:r>
              <a:rPr lang="en-US" sz="24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Impact: +2.3-point average mood improvement</a:t>
            </a:r>
          </a:p>
          <a:p>
            <a:pPr algn="ctr">
              <a:lnSpc>
                <a:spcPts val="7300"/>
              </a:lnSpc>
            </a:pPr>
            <a:r>
              <a:rPr lang="en-US" sz="24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Retention: 70%+ users stay active Week 1-4</a:t>
            </a:r>
          </a:p>
          <a:p>
            <a:pPr algn="ctr">
              <a:lnSpc>
                <a:spcPts val="7300"/>
              </a:lnSpc>
            </a:pPr>
            <a:r>
              <a:rPr lang="en-US" sz="24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Cost: Free MVP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11420318" y="409278"/>
            <a:ext cx="6524565" cy="1310558"/>
            <a:chOff x="0" y="0"/>
            <a:chExt cx="986902" cy="1982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59231" y="462383"/>
            <a:ext cx="1318423" cy="1204347"/>
            <a:chOff x="0" y="0"/>
            <a:chExt cx="1757897" cy="1605797"/>
          </a:xfrm>
        </p:grpSpPr>
        <p:sp>
          <p:nvSpPr>
            <p:cNvPr id="7" name="TextBox 7"/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269545" y="569680"/>
            <a:ext cx="989755" cy="98975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926680" y="610653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2" name="TextBox 12"/>
          <p:cNvSpPr txBox="1"/>
          <p:nvPr/>
        </p:nvSpPr>
        <p:spPr>
          <a:xfrm>
            <a:off x="289312" y="494377"/>
            <a:ext cx="5457625" cy="117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6887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514600" y="1814257"/>
            <a:ext cx="12652043" cy="7305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40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COMPETITIVE ADVANTAGE</a:t>
            </a:r>
          </a:p>
          <a:p>
            <a:pPr algn="ctr">
              <a:lnSpc>
                <a:spcPts val="7300"/>
              </a:lnSpc>
            </a:pPr>
            <a:r>
              <a:rPr lang="en-US" sz="28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Why We Win:</a:t>
            </a:r>
          </a:p>
          <a:p>
            <a:pPr algn="ctr">
              <a:lnSpc>
                <a:spcPts val="7300"/>
              </a:lnSpc>
            </a:pPr>
            <a:r>
              <a:rPr lang="en-US" sz="28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7x more nuanced (28 emotions vs 4-6)</a:t>
            </a:r>
          </a:p>
          <a:p>
            <a:pPr algn="ctr">
              <a:lnSpc>
                <a:spcPts val="7300"/>
              </a:lnSpc>
            </a:pPr>
            <a:r>
              <a:rPr lang="en-US" sz="28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Real therapist data (not generic AI)</a:t>
            </a:r>
          </a:p>
          <a:p>
            <a:pPr algn="ctr">
              <a:lnSpc>
                <a:spcPts val="7300"/>
              </a:lnSpc>
            </a:pPr>
            <a:r>
              <a:rPr lang="en-US" sz="28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Feedback loop learning</a:t>
            </a:r>
          </a:p>
          <a:p>
            <a:pPr algn="ctr">
              <a:lnSpc>
                <a:spcPts val="7300"/>
              </a:lnSpc>
            </a:pPr>
            <a:r>
              <a:rPr lang="en-US" sz="28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Unique: Depression risk prediction</a:t>
            </a:r>
          </a:p>
          <a:p>
            <a:pPr algn="ctr">
              <a:lnSpc>
                <a:spcPts val="7300"/>
              </a:lnSpc>
            </a:pPr>
            <a:r>
              <a:rPr lang="en-US" sz="28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Instant web access (no app download)</a:t>
            </a:r>
          </a:p>
          <a:p>
            <a:pPr algn="ctr">
              <a:lnSpc>
                <a:spcPts val="7300"/>
              </a:lnSpc>
            </a:pPr>
            <a:r>
              <a:rPr lang="en-US" sz="28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Free MVP (competitors charge Rs.500-2000/month)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 dirty="0"/>
          </a:p>
        </p:txBody>
      </p:sp>
      <p:grpSp>
        <p:nvGrpSpPr>
          <p:cNvPr id="3" name="Group 3"/>
          <p:cNvGrpSpPr/>
          <p:nvPr/>
        </p:nvGrpSpPr>
        <p:grpSpPr>
          <a:xfrm>
            <a:off x="11420318" y="409278"/>
            <a:ext cx="6524565" cy="1310558"/>
            <a:chOff x="0" y="0"/>
            <a:chExt cx="986902" cy="1982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6902" cy="198234"/>
            </a:xfrm>
            <a:custGeom>
              <a:avLst/>
              <a:gdLst/>
              <a:ahLst/>
              <a:cxnLst/>
              <a:rect l="l" t="t" r="r" b="b"/>
              <a:pathLst>
                <a:path w="986902" h="198234">
                  <a:moveTo>
                    <a:pt x="87807" y="0"/>
                  </a:moveTo>
                  <a:lnTo>
                    <a:pt x="899095" y="0"/>
                  </a:lnTo>
                  <a:cubicBezTo>
                    <a:pt x="922383" y="0"/>
                    <a:pt x="944717" y="9251"/>
                    <a:pt x="961184" y="25718"/>
                  </a:cubicBezTo>
                  <a:cubicBezTo>
                    <a:pt x="977651" y="42185"/>
                    <a:pt x="986902" y="64519"/>
                    <a:pt x="986902" y="87807"/>
                  </a:cubicBezTo>
                  <a:lnTo>
                    <a:pt x="986902" y="110427"/>
                  </a:lnTo>
                  <a:cubicBezTo>
                    <a:pt x="986902" y="133715"/>
                    <a:pt x="977651" y="156049"/>
                    <a:pt x="961184" y="172516"/>
                  </a:cubicBezTo>
                  <a:cubicBezTo>
                    <a:pt x="944717" y="188983"/>
                    <a:pt x="922383" y="198234"/>
                    <a:pt x="899095" y="198234"/>
                  </a:cubicBezTo>
                  <a:lnTo>
                    <a:pt x="87807" y="198234"/>
                  </a:lnTo>
                  <a:cubicBezTo>
                    <a:pt x="39313" y="198234"/>
                    <a:pt x="0" y="158922"/>
                    <a:pt x="0" y="110427"/>
                  </a:cubicBezTo>
                  <a:lnTo>
                    <a:pt x="0" y="87807"/>
                  </a:lnTo>
                  <a:cubicBezTo>
                    <a:pt x="0" y="64519"/>
                    <a:pt x="9251" y="42185"/>
                    <a:pt x="25718" y="25718"/>
                  </a:cubicBezTo>
                  <a:cubicBezTo>
                    <a:pt x="42185" y="9251"/>
                    <a:pt x="64519" y="0"/>
                    <a:pt x="8780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4AAD">
                    <a:alpha val="57000"/>
                  </a:srgbClr>
                </a:gs>
                <a:gs pos="100000">
                  <a:srgbClr val="CB6CE6">
                    <a:alpha val="57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986902" cy="245859"/>
            </a:xfrm>
            <a:prstGeom prst="rect">
              <a:avLst/>
            </a:prstGeom>
          </p:spPr>
          <p:txBody>
            <a:bodyPr lIns="56452" tIns="56452" rIns="56452" bIns="56452" rtlCol="0" anchor="ctr"/>
            <a:lstStyle/>
            <a:p>
              <a:pPr algn="ctr">
                <a:lnSpc>
                  <a:spcPts val="34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659231" y="462383"/>
            <a:ext cx="1318423" cy="1204347"/>
            <a:chOff x="0" y="0"/>
            <a:chExt cx="1757897" cy="1605797"/>
          </a:xfrm>
        </p:grpSpPr>
        <p:sp>
          <p:nvSpPr>
            <p:cNvPr id="7" name="TextBox 7"/>
            <p:cNvSpPr txBox="1"/>
            <p:nvPr/>
          </p:nvSpPr>
          <p:spPr>
            <a:xfrm>
              <a:off x="66237" y="1121128"/>
              <a:ext cx="1691659" cy="4846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3"/>
                </a:lnSpc>
              </a:pPr>
              <a:r>
                <a:rPr lang="en-US" sz="2202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  <a:sym typeface="Playfair Display Bold"/>
                </a:rPr>
                <a:t>ECDS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1757897" cy="1159228"/>
            </a:xfrm>
            <a:custGeom>
              <a:avLst/>
              <a:gdLst/>
              <a:ahLst/>
              <a:cxnLst/>
              <a:rect l="l" t="t" r="r" b="b"/>
              <a:pathLst>
                <a:path w="1757897" h="1159228">
                  <a:moveTo>
                    <a:pt x="0" y="0"/>
                  </a:moveTo>
                  <a:lnTo>
                    <a:pt x="1757897" y="0"/>
                  </a:lnTo>
                  <a:lnTo>
                    <a:pt x="1757897" y="1159228"/>
                  </a:lnTo>
                  <a:lnTo>
                    <a:pt x="0" y="1159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251" t="-36010" r="-12482" b="-53141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269545" y="569680"/>
            <a:ext cx="989755" cy="98975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926680" y="610653"/>
            <a:ext cx="2440659" cy="836094"/>
          </a:xfrm>
          <a:custGeom>
            <a:avLst/>
            <a:gdLst/>
            <a:ahLst/>
            <a:cxnLst/>
            <a:rect l="l" t="t" r="r" b="b"/>
            <a:pathLst>
              <a:path w="2440659" h="836094">
                <a:moveTo>
                  <a:pt x="0" y="0"/>
                </a:moveTo>
                <a:lnTo>
                  <a:pt x="2440659" y="0"/>
                </a:lnTo>
                <a:lnTo>
                  <a:pt x="2440659" y="836094"/>
                </a:lnTo>
                <a:lnTo>
                  <a:pt x="0" y="83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" t="-40049" r="-7054" b="-38629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2" name="TextBox 12"/>
          <p:cNvSpPr txBox="1"/>
          <p:nvPr/>
        </p:nvSpPr>
        <p:spPr>
          <a:xfrm>
            <a:off x="289312" y="494377"/>
            <a:ext cx="5457625" cy="1172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41"/>
              </a:lnSpc>
              <a:spcBef>
                <a:spcPct val="0"/>
              </a:spcBef>
            </a:pPr>
            <a:r>
              <a:rPr lang="en-US" sz="6887" b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𝖣𝖠𝖳𝖠𝖲𝖤𝖳’25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666399" y="2172648"/>
            <a:ext cx="12652043" cy="6047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00"/>
              </a:lnSpc>
            </a:pPr>
            <a:r>
              <a:rPr lang="en-US" sz="73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TEAM MEMBERS:</a:t>
            </a:r>
            <a:br>
              <a:rPr lang="en-US" sz="73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28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Tanmay – 25BCE5539</a:t>
            </a:r>
          </a:p>
          <a:p>
            <a:pPr algn="ctr">
              <a:lnSpc>
                <a:spcPts val="7300"/>
              </a:lnSpc>
            </a:pPr>
            <a:r>
              <a:rPr lang="en-US" sz="28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Akshay – 25BCE5479</a:t>
            </a:r>
          </a:p>
          <a:p>
            <a:pPr algn="ctr">
              <a:lnSpc>
                <a:spcPts val="7300"/>
              </a:lnSpc>
            </a:pPr>
            <a:r>
              <a:rPr lang="en-US" sz="2800" dirty="0" err="1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Suneev</a:t>
            </a:r>
            <a:r>
              <a:rPr lang="en-US" sz="28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 – 25BCE5475</a:t>
            </a:r>
          </a:p>
          <a:p>
            <a:pPr algn="ctr">
              <a:lnSpc>
                <a:spcPts val="7300"/>
              </a:lnSpc>
            </a:pPr>
            <a:r>
              <a:rPr lang="en-US" sz="28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Shaun – 25BCE5361</a:t>
            </a:r>
          </a:p>
          <a:p>
            <a:pPr algn="ctr">
              <a:lnSpc>
                <a:spcPts val="7300"/>
              </a:lnSpc>
            </a:pPr>
            <a:r>
              <a:rPr lang="en-US" sz="2800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5400000"/>
                </a:gradFill>
                <a:latin typeface="Montserrat"/>
                <a:ea typeface="Montserrat"/>
                <a:cs typeface="Montserrat"/>
                <a:sym typeface="Montserrat"/>
              </a:rPr>
              <a:t>Pratheek – 25BCE5467</a:t>
            </a:r>
          </a:p>
          <a:p>
            <a:pPr algn="ctr"/>
            <a:endParaRPr lang="en-US" sz="2800" dirty="0">
              <a:gradFill>
                <a:gsLst>
                  <a:gs pos="0">
                    <a:srgbClr val="A6A6A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5400000"/>
              </a:gra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233</Words>
  <Application>Microsoft Office PowerPoint</Application>
  <PresentationFormat>Custom</PresentationFormat>
  <Paragraphs>50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Montserrat</vt:lpstr>
      <vt:lpstr>Calibri</vt:lpstr>
      <vt:lpstr>Arial</vt:lpstr>
      <vt:lpstr>Source Serif Pro Bold</vt:lpstr>
      <vt:lpstr>Playfair Display Bold</vt:lpstr>
      <vt:lpstr>Libre Franklin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DATASET EDITION 2</dc:title>
  <dc:creator>Shaun Joseph</dc:creator>
  <cp:lastModifiedBy>Shaun Joseph</cp:lastModifiedBy>
  <cp:revision>3</cp:revision>
  <dcterms:created xsi:type="dcterms:W3CDTF">2006-08-16T00:00:00Z</dcterms:created>
  <dcterms:modified xsi:type="dcterms:W3CDTF">2025-12-18T14:07:45Z</dcterms:modified>
  <dc:identifier>DAG7o8SITjs</dc:identifier>
</cp:coreProperties>
</file>